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69" r:id="rId4"/>
    <p:sldId id="278" r:id="rId5"/>
    <p:sldId id="270" r:id="rId6"/>
    <p:sldId id="272" r:id="rId7"/>
    <p:sldId id="257" r:id="rId8"/>
    <p:sldId id="258" r:id="rId9"/>
    <p:sldId id="273" r:id="rId10"/>
    <p:sldId id="259" r:id="rId11"/>
    <p:sldId id="260" r:id="rId12"/>
    <p:sldId id="261" r:id="rId13"/>
    <p:sldId id="262" r:id="rId14"/>
    <p:sldId id="263" r:id="rId15"/>
    <p:sldId id="284" r:id="rId16"/>
    <p:sldId id="277" r:id="rId17"/>
    <p:sldId id="279" r:id="rId18"/>
    <p:sldId id="280" r:id="rId19"/>
    <p:sldId id="281" r:id="rId20"/>
    <p:sldId id="274" r:id="rId21"/>
    <p:sldId id="275" r:id="rId22"/>
    <p:sldId id="289" r:id="rId23"/>
    <p:sldId id="290" r:id="rId24"/>
    <p:sldId id="288" r:id="rId25"/>
    <p:sldId id="286" r:id="rId26"/>
    <p:sldId id="292" r:id="rId27"/>
    <p:sldId id="293" r:id="rId28"/>
    <p:sldId id="295" r:id="rId29"/>
    <p:sldId id="307" r:id="rId30"/>
    <p:sldId id="308" r:id="rId31"/>
    <p:sldId id="306" r:id="rId32"/>
    <p:sldId id="299" r:id="rId33"/>
    <p:sldId id="301" r:id="rId34"/>
    <p:sldId id="298" r:id="rId35"/>
    <p:sldId id="300" r:id="rId36"/>
    <p:sldId id="309" r:id="rId37"/>
    <p:sldId id="302" r:id="rId38"/>
    <p:sldId id="303" r:id="rId39"/>
    <p:sldId id="296" r:id="rId40"/>
    <p:sldId id="297" r:id="rId41"/>
    <p:sldId id="304" r:id="rId42"/>
    <p:sldId id="305" r:id="rId43"/>
    <p:sldId id="310" r:id="rId44"/>
    <p:sldId id="311" r:id="rId45"/>
    <p:sldId id="314" r:id="rId46"/>
    <p:sldId id="315" r:id="rId47"/>
    <p:sldId id="313" r:id="rId48"/>
    <p:sldId id="316" r:id="rId49"/>
    <p:sldId id="264"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361" autoAdjust="0"/>
    <p:restoredTop sz="94660"/>
  </p:normalViewPr>
  <p:slideViewPr>
    <p:cSldViewPr snapToGrid="0">
      <p:cViewPr>
        <p:scale>
          <a:sx n="50" d="100"/>
          <a:sy n="50" d="100"/>
        </p:scale>
        <p:origin x="1268" y="3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0AE7F-8F2F-2FD6-D32E-781D020CD5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76898E7-59E6-E094-284D-9C556B8EB5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CA563D4-8AC8-4D68-61C6-F0CC12425868}"/>
              </a:ext>
            </a:extLst>
          </p:cNvPr>
          <p:cNvSpPr>
            <a:spLocks noGrp="1"/>
          </p:cNvSpPr>
          <p:nvPr>
            <p:ph type="dt" sz="half" idx="10"/>
          </p:nvPr>
        </p:nvSpPr>
        <p:spPr/>
        <p:txBody>
          <a:bodyPr/>
          <a:lstStyle/>
          <a:p>
            <a:fld id="{7A3F2AE0-A077-4F7D-AE63-606CB286EF9A}" type="datetimeFigureOut">
              <a:rPr lang="en-IN" smtClean="0"/>
              <a:t>13-04-2025</a:t>
            </a:fld>
            <a:endParaRPr lang="en-IN"/>
          </a:p>
        </p:txBody>
      </p:sp>
      <p:sp>
        <p:nvSpPr>
          <p:cNvPr id="5" name="Footer Placeholder 4">
            <a:extLst>
              <a:ext uri="{FF2B5EF4-FFF2-40B4-BE49-F238E27FC236}">
                <a16:creationId xmlns:a16="http://schemas.microsoft.com/office/drawing/2014/main" id="{CE6348AD-03AD-CD45-0F90-66F814D2F0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DBBE07-153D-F455-83D8-05E2AB88B6CA}"/>
              </a:ext>
            </a:extLst>
          </p:cNvPr>
          <p:cNvSpPr>
            <a:spLocks noGrp="1"/>
          </p:cNvSpPr>
          <p:nvPr>
            <p:ph type="sldNum" sz="quarter" idx="12"/>
          </p:nvPr>
        </p:nvSpPr>
        <p:spPr/>
        <p:txBody>
          <a:bodyPr/>
          <a:lstStyle/>
          <a:p>
            <a:fld id="{DA1A0BCC-6300-43EE-8F7D-F095F185BA4E}" type="slidenum">
              <a:rPr lang="en-IN" smtClean="0"/>
              <a:t>‹#›</a:t>
            </a:fld>
            <a:endParaRPr lang="en-IN"/>
          </a:p>
        </p:txBody>
      </p:sp>
    </p:spTree>
    <p:extLst>
      <p:ext uri="{BB962C8B-B14F-4D97-AF65-F5344CB8AC3E}">
        <p14:creationId xmlns:p14="http://schemas.microsoft.com/office/powerpoint/2010/main" val="17242690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D1BCB-C5E4-965A-0DE6-559617804D9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1B17E0D-56EB-E3CA-D243-0B221DC09B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AF09329-B715-5C21-D73A-C0709BEB3D82}"/>
              </a:ext>
            </a:extLst>
          </p:cNvPr>
          <p:cNvSpPr>
            <a:spLocks noGrp="1"/>
          </p:cNvSpPr>
          <p:nvPr>
            <p:ph type="dt" sz="half" idx="10"/>
          </p:nvPr>
        </p:nvSpPr>
        <p:spPr/>
        <p:txBody>
          <a:bodyPr/>
          <a:lstStyle/>
          <a:p>
            <a:fld id="{7A3F2AE0-A077-4F7D-AE63-606CB286EF9A}" type="datetimeFigureOut">
              <a:rPr lang="en-IN" smtClean="0"/>
              <a:t>13-04-2025</a:t>
            </a:fld>
            <a:endParaRPr lang="en-IN"/>
          </a:p>
        </p:txBody>
      </p:sp>
      <p:sp>
        <p:nvSpPr>
          <p:cNvPr id="5" name="Footer Placeholder 4">
            <a:extLst>
              <a:ext uri="{FF2B5EF4-FFF2-40B4-BE49-F238E27FC236}">
                <a16:creationId xmlns:a16="http://schemas.microsoft.com/office/drawing/2014/main" id="{6607000D-EDC4-FAEC-6BF3-A7867D9A8D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D5E14D-60A5-A516-0D15-E2EE2B50E3F2}"/>
              </a:ext>
            </a:extLst>
          </p:cNvPr>
          <p:cNvSpPr>
            <a:spLocks noGrp="1"/>
          </p:cNvSpPr>
          <p:nvPr>
            <p:ph type="sldNum" sz="quarter" idx="12"/>
          </p:nvPr>
        </p:nvSpPr>
        <p:spPr/>
        <p:txBody>
          <a:bodyPr/>
          <a:lstStyle/>
          <a:p>
            <a:fld id="{DA1A0BCC-6300-43EE-8F7D-F095F185BA4E}" type="slidenum">
              <a:rPr lang="en-IN" smtClean="0"/>
              <a:t>‹#›</a:t>
            </a:fld>
            <a:endParaRPr lang="en-IN"/>
          </a:p>
        </p:txBody>
      </p:sp>
    </p:spTree>
    <p:extLst>
      <p:ext uri="{BB962C8B-B14F-4D97-AF65-F5344CB8AC3E}">
        <p14:creationId xmlns:p14="http://schemas.microsoft.com/office/powerpoint/2010/main" val="6496513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482C0-162C-2F21-094B-CE9EFF0445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C275D80-DCDC-6DFF-41B9-A9D5F56A283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FFB2B65-E843-6A1A-5FC3-9DF8251CFEFD}"/>
              </a:ext>
            </a:extLst>
          </p:cNvPr>
          <p:cNvSpPr>
            <a:spLocks noGrp="1"/>
          </p:cNvSpPr>
          <p:nvPr>
            <p:ph type="dt" sz="half" idx="10"/>
          </p:nvPr>
        </p:nvSpPr>
        <p:spPr/>
        <p:txBody>
          <a:bodyPr/>
          <a:lstStyle/>
          <a:p>
            <a:fld id="{7A3F2AE0-A077-4F7D-AE63-606CB286EF9A}" type="datetimeFigureOut">
              <a:rPr lang="en-IN" smtClean="0"/>
              <a:t>13-04-2025</a:t>
            </a:fld>
            <a:endParaRPr lang="en-IN"/>
          </a:p>
        </p:txBody>
      </p:sp>
      <p:sp>
        <p:nvSpPr>
          <p:cNvPr id="5" name="Footer Placeholder 4">
            <a:extLst>
              <a:ext uri="{FF2B5EF4-FFF2-40B4-BE49-F238E27FC236}">
                <a16:creationId xmlns:a16="http://schemas.microsoft.com/office/drawing/2014/main" id="{A470F098-216C-31AF-CA81-6C2F2311D8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762397-3B65-4E26-5F6C-04B9E0CF0FD0}"/>
              </a:ext>
            </a:extLst>
          </p:cNvPr>
          <p:cNvSpPr>
            <a:spLocks noGrp="1"/>
          </p:cNvSpPr>
          <p:nvPr>
            <p:ph type="sldNum" sz="quarter" idx="12"/>
          </p:nvPr>
        </p:nvSpPr>
        <p:spPr/>
        <p:txBody>
          <a:bodyPr/>
          <a:lstStyle/>
          <a:p>
            <a:fld id="{DA1A0BCC-6300-43EE-8F7D-F095F185BA4E}" type="slidenum">
              <a:rPr lang="en-IN" smtClean="0"/>
              <a:t>‹#›</a:t>
            </a:fld>
            <a:endParaRPr lang="en-IN"/>
          </a:p>
        </p:txBody>
      </p:sp>
    </p:spTree>
    <p:extLst>
      <p:ext uri="{BB962C8B-B14F-4D97-AF65-F5344CB8AC3E}">
        <p14:creationId xmlns:p14="http://schemas.microsoft.com/office/powerpoint/2010/main" val="3827633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B6970-3A9B-AFF4-C8DE-088E496C748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55E6D3A-6D6D-8D5C-B106-5B4D02721E6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B46FE5F-5D3D-3B23-4811-2E5E105F5E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61DBF31-6D5D-5025-DA6E-BCA05816B1C8}"/>
              </a:ext>
            </a:extLst>
          </p:cNvPr>
          <p:cNvSpPr>
            <a:spLocks noGrp="1"/>
          </p:cNvSpPr>
          <p:nvPr>
            <p:ph type="dt" sz="half" idx="10"/>
          </p:nvPr>
        </p:nvSpPr>
        <p:spPr/>
        <p:txBody>
          <a:bodyPr/>
          <a:lstStyle/>
          <a:p>
            <a:fld id="{7A3F2AE0-A077-4F7D-AE63-606CB286EF9A}" type="datetimeFigureOut">
              <a:rPr lang="en-IN" smtClean="0"/>
              <a:t>13-04-2025</a:t>
            </a:fld>
            <a:endParaRPr lang="en-IN"/>
          </a:p>
        </p:txBody>
      </p:sp>
      <p:sp>
        <p:nvSpPr>
          <p:cNvPr id="6" name="Footer Placeholder 5">
            <a:extLst>
              <a:ext uri="{FF2B5EF4-FFF2-40B4-BE49-F238E27FC236}">
                <a16:creationId xmlns:a16="http://schemas.microsoft.com/office/drawing/2014/main" id="{7D9AAA1B-D74E-3C79-30D4-1F243E8A49B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95B8B0-7831-D038-F8B6-177885304D11}"/>
              </a:ext>
            </a:extLst>
          </p:cNvPr>
          <p:cNvSpPr>
            <a:spLocks noGrp="1"/>
          </p:cNvSpPr>
          <p:nvPr>
            <p:ph type="sldNum" sz="quarter" idx="12"/>
          </p:nvPr>
        </p:nvSpPr>
        <p:spPr/>
        <p:txBody>
          <a:bodyPr/>
          <a:lstStyle/>
          <a:p>
            <a:fld id="{DA1A0BCC-6300-43EE-8F7D-F095F185BA4E}" type="slidenum">
              <a:rPr lang="en-IN" smtClean="0"/>
              <a:t>‹#›</a:t>
            </a:fld>
            <a:endParaRPr lang="en-IN"/>
          </a:p>
        </p:txBody>
      </p:sp>
    </p:spTree>
    <p:extLst>
      <p:ext uri="{BB962C8B-B14F-4D97-AF65-F5344CB8AC3E}">
        <p14:creationId xmlns:p14="http://schemas.microsoft.com/office/powerpoint/2010/main" val="3721927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EF5F4-7D02-CE43-4990-2965F9D3551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5A925DD-7BB5-8B97-F1F9-1FCA88180E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753CAA1-F460-5FCC-31AA-420A635172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A5E047C-C50A-8494-8982-95C6CC7D3A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42D70B7-192F-1C15-B5D6-3F617F3F1F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D595DEF-0EB0-C10F-A0B1-E54AB8E090D8}"/>
              </a:ext>
            </a:extLst>
          </p:cNvPr>
          <p:cNvSpPr>
            <a:spLocks noGrp="1"/>
          </p:cNvSpPr>
          <p:nvPr>
            <p:ph type="dt" sz="half" idx="10"/>
          </p:nvPr>
        </p:nvSpPr>
        <p:spPr/>
        <p:txBody>
          <a:bodyPr/>
          <a:lstStyle/>
          <a:p>
            <a:fld id="{7A3F2AE0-A077-4F7D-AE63-606CB286EF9A}" type="datetimeFigureOut">
              <a:rPr lang="en-IN" smtClean="0"/>
              <a:t>13-04-2025</a:t>
            </a:fld>
            <a:endParaRPr lang="en-IN"/>
          </a:p>
        </p:txBody>
      </p:sp>
      <p:sp>
        <p:nvSpPr>
          <p:cNvPr id="8" name="Footer Placeholder 7">
            <a:extLst>
              <a:ext uri="{FF2B5EF4-FFF2-40B4-BE49-F238E27FC236}">
                <a16:creationId xmlns:a16="http://schemas.microsoft.com/office/drawing/2014/main" id="{9E085A3B-5680-6A0B-BC1F-64B650DF9E9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FA402D7-7CAC-0C3D-D500-9AFE3B13A76E}"/>
              </a:ext>
            </a:extLst>
          </p:cNvPr>
          <p:cNvSpPr>
            <a:spLocks noGrp="1"/>
          </p:cNvSpPr>
          <p:nvPr>
            <p:ph type="sldNum" sz="quarter" idx="12"/>
          </p:nvPr>
        </p:nvSpPr>
        <p:spPr/>
        <p:txBody>
          <a:bodyPr/>
          <a:lstStyle/>
          <a:p>
            <a:fld id="{DA1A0BCC-6300-43EE-8F7D-F095F185BA4E}" type="slidenum">
              <a:rPr lang="en-IN" smtClean="0"/>
              <a:t>‹#›</a:t>
            </a:fld>
            <a:endParaRPr lang="en-IN"/>
          </a:p>
        </p:txBody>
      </p:sp>
    </p:spTree>
    <p:extLst>
      <p:ext uri="{BB962C8B-B14F-4D97-AF65-F5344CB8AC3E}">
        <p14:creationId xmlns:p14="http://schemas.microsoft.com/office/powerpoint/2010/main" val="1613341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DE13E-9D12-5D25-143A-E87B6381EC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532995E-03AA-C749-5C4C-A7DFED1CCB54}"/>
              </a:ext>
            </a:extLst>
          </p:cNvPr>
          <p:cNvSpPr>
            <a:spLocks noGrp="1"/>
          </p:cNvSpPr>
          <p:nvPr>
            <p:ph type="dt" sz="half" idx="10"/>
          </p:nvPr>
        </p:nvSpPr>
        <p:spPr/>
        <p:txBody>
          <a:bodyPr/>
          <a:lstStyle/>
          <a:p>
            <a:fld id="{7A3F2AE0-A077-4F7D-AE63-606CB286EF9A}" type="datetimeFigureOut">
              <a:rPr lang="en-IN" smtClean="0"/>
              <a:t>13-04-2025</a:t>
            </a:fld>
            <a:endParaRPr lang="en-IN"/>
          </a:p>
        </p:txBody>
      </p:sp>
      <p:sp>
        <p:nvSpPr>
          <p:cNvPr id="4" name="Footer Placeholder 3">
            <a:extLst>
              <a:ext uri="{FF2B5EF4-FFF2-40B4-BE49-F238E27FC236}">
                <a16:creationId xmlns:a16="http://schemas.microsoft.com/office/drawing/2014/main" id="{A4DC24EF-0F13-A3EA-C47D-A3F20B7F8FD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D75563C-E308-76DD-1073-72877561B8C7}"/>
              </a:ext>
            </a:extLst>
          </p:cNvPr>
          <p:cNvSpPr>
            <a:spLocks noGrp="1"/>
          </p:cNvSpPr>
          <p:nvPr>
            <p:ph type="sldNum" sz="quarter" idx="12"/>
          </p:nvPr>
        </p:nvSpPr>
        <p:spPr/>
        <p:txBody>
          <a:bodyPr/>
          <a:lstStyle/>
          <a:p>
            <a:fld id="{DA1A0BCC-6300-43EE-8F7D-F095F185BA4E}" type="slidenum">
              <a:rPr lang="en-IN" smtClean="0"/>
              <a:t>‹#›</a:t>
            </a:fld>
            <a:endParaRPr lang="en-IN"/>
          </a:p>
        </p:txBody>
      </p:sp>
    </p:spTree>
    <p:extLst>
      <p:ext uri="{BB962C8B-B14F-4D97-AF65-F5344CB8AC3E}">
        <p14:creationId xmlns:p14="http://schemas.microsoft.com/office/powerpoint/2010/main" val="2077128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29E4AE-CA05-3B8A-38C7-C99B9C75BF14}"/>
              </a:ext>
            </a:extLst>
          </p:cNvPr>
          <p:cNvSpPr>
            <a:spLocks noGrp="1"/>
          </p:cNvSpPr>
          <p:nvPr>
            <p:ph type="dt" sz="half" idx="10"/>
          </p:nvPr>
        </p:nvSpPr>
        <p:spPr/>
        <p:txBody>
          <a:bodyPr/>
          <a:lstStyle/>
          <a:p>
            <a:fld id="{7A3F2AE0-A077-4F7D-AE63-606CB286EF9A}" type="datetimeFigureOut">
              <a:rPr lang="en-IN" smtClean="0"/>
              <a:t>13-04-2025</a:t>
            </a:fld>
            <a:endParaRPr lang="en-IN"/>
          </a:p>
        </p:txBody>
      </p:sp>
      <p:sp>
        <p:nvSpPr>
          <p:cNvPr id="3" name="Footer Placeholder 2">
            <a:extLst>
              <a:ext uri="{FF2B5EF4-FFF2-40B4-BE49-F238E27FC236}">
                <a16:creationId xmlns:a16="http://schemas.microsoft.com/office/drawing/2014/main" id="{3219CF50-AE06-08FF-04AE-B7312C7C7FE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6461001-2552-E237-14B3-2015F3904C0A}"/>
              </a:ext>
            </a:extLst>
          </p:cNvPr>
          <p:cNvSpPr>
            <a:spLocks noGrp="1"/>
          </p:cNvSpPr>
          <p:nvPr>
            <p:ph type="sldNum" sz="quarter" idx="12"/>
          </p:nvPr>
        </p:nvSpPr>
        <p:spPr/>
        <p:txBody>
          <a:bodyPr/>
          <a:lstStyle/>
          <a:p>
            <a:fld id="{DA1A0BCC-6300-43EE-8F7D-F095F185BA4E}" type="slidenum">
              <a:rPr lang="en-IN" smtClean="0"/>
              <a:t>‹#›</a:t>
            </a:fld>
            <a:endParaRPr lang="en-IN"/>
          </a:p>
        </p:txBody>
      </p:sp>
    </p:spTree>
    <p:extLst>
      <p:ext uri="{BB962C8B-B14F-4D97-AF65-F5344CB8AC3E}">
        <p14:creationId xmlns:p14="http://schemas.microsoft.com/office/powerpoint/2010/main" val="480089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C54E0-7622-A9C4-5B82-2E570111D0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E735223-464C-86E7-7D91-89A5050A87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9B62655-60C7-BC28-62E5-04FA4F4A94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3BAA87-1952-63CB-03C1-FA741CA1258D}"/>
              </a:ext>
            </a:extLst>
          </p:cNvPr>
          <p:cNvSpPr>
            <a:spLocks noGrp="1"/>
          </p:cNvSpPr>
          <p:nvPr>
            <p:ph type="dt" sz="half" idx="10"/>
          </p:nvPr>
        </p:nvSpPr>
        <p:spPr/>
        <p:txBody>
          <a:bodyPr/>
          <a:lstStyle/>
          <a:p>
            <a:fld id="{7A3F2AE0-A077-4F7D-AE63-606CB286EF9A}" type="datetimeFigureOut">
              <a:rPr lang="en-IN" smtClean="0"/>
              <a:t>13-04-2025</a:t>
            </a:fld>
            <a:endParaRPr lang="en-IN"/>
          </a:p>
        </p:txBody>
      </p:sp>
      <p:sp>
        <p:nvSpPr>
          <p:cNvPr id="6" name="Footer Placeholder 5">
            <a:extLst>
              <a:ext uri="{FF2B5EF4-FFF2-40B4-BE49-F238E27FC236}">
                <a16:creationId xmlns:a16="http://schemas.microsoft.com/office/drawing/2014/main" id="{8B3EF235-8A86-6A6E-65CC-CB5A5EE45D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58B79D9-F143-60B4-24D3-44776C433D0B}"/>
              </a:ext>
            </a:extLst>
          </p:cNvPr>
          <p:cNvSpPr>
            <a:spLocks noGrp="1"/>
          </p:cNvSpPr>
          <p:nvPr>
            <p:ph type="sldNum" sz="quarter" idx="12"/>
          </p:nvPr>
        </p:nvSpPr>
        <p:spPr/>
        <p:txBody>
          <a:bodyPr/>
          <a:lstStyle/>
          <a:p>
            <a:fld id="{DA1A0BCC-6300-43EE-8F7D-F095F185BA4E}" type="slidenum">
              <a:rPr lang="en-IN" smtClean="0"/>
              <a:t>‹#›</a:t>
            </a:fld>
            <a:endParaRPr lang="en-IN"/>
          </a:p>
        </p:txBody>
      </p:sp>
    </p:spTree>
    <p:extLst>
      <p:ext uri="{BB962C8B-B14F-4D97-AF65-F5344CB8AC3E}">
        <p14:creationId xmlns:p14="http://schemas.microsoft.com/office/powerpoint/2010/main" val="28270593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F50E5-1BEF-502E-81F1-D34D2CAF9E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2F93864-DD6B-0A82-8EB1-0806CDFF56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5C8AF40-D5BE-65CE-9AF6-B2F047F14A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32FF19-CE00-3C29-6E3C-3250D9E52AEE}"/>
              </a:ext>
            </a:extLst>
          </p:cNvPr>
          <p:cNvSpPr>
            <a:spLocks noGrp="1"/>
          </p:cNvSpPr>
          <p:nvPr>
            <p:ph type="dt" sz="half" idx="10"/>
          </p:nvPr>
        </p:nvSpPr>
        <p:spPr/>
        <p:txBody>
          <a:bodyPr/>
          <a:lstStyle/>
          <a:p>
            <a:fld id="{7A3F2AE0-A077-4F7D-AE63-606CB286EF9A}" type="datetimeFigureOut">
              <a:rPr lang="en-IN" smtClean="0"/>
              <a:t>13-04-2025</a:t>
            </a:fld>
            <a:endParaRPr lang="en-IN"/>
          </a:p>
        </p:txBody>
      </p:sp>
      <p:sp>
        <p:nvSpPr>
          <p:cNvPr id="6" name="Footer Placeholder 5">
            <a:extLst>
              <a:ext uri="{FF2B5EF4-FFF2-40B4-BE49-F238E27FC236}">
                <a16:creationId xmlns:a16="http://schemas.microsoft.com/office/drawing/2014/main" id="{80F47AF6-367C-7421-4623-3E44C60EA6F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883EF8E-27D6-0D80-2E8E-C4410B11E01A}"/>
              </a:ext>
            </a:extLst>
          </p:cNvPr>
          <p:cNvSpPr>
            <a:spLocks noGrp="1"/>
          </p:cNvSpPr>
          <p:nvPr>
            <p:ph type="sldNum" sz="quarter" idx="12"/>
          </p:nvPr>
        </p:nvSpPr>
        <p:spPr/>
        <p:txBody>
          <a:bodyPr/>
          <a:lstStyle/>
          <a:p>
            <a:fld id="{DA1A0BCC-6300-43EE-8F7D-F095F185BA4E}" type="slidenum">
              <a:rPr lang="en-IN" smtClean="0"/>
              <a:t>‹#›</a:t>
            </a:fld>
            <a:endParaRPr lang="en-IN"/>
          </a:p>
        </p:txBody>
      </p:sp>
    </p:spTree>
    <p:extLst>
      <p:ext uri="{BB962C8B-B14F-4D97-AF65-F5344CB8AC3E}">
        <p14:creationId xmlns:p14="http://schemas.microsoft.com/office/powerpoint/2010/main" val="27689523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BB538-829C-2FEF-1ED0-B6B5EA421A0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CEB17A3-5426-8480-4903-633AEDF00AF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A41263-CC8C-6949-062C-2E5A0375D988}"/>
              </a:ext>
            </a:extLst>
          </p:cNvPr>
          <p:cNvSpPr>
            <a:spLocks noGrp="1"/>
          </p:cNvSpPr>
          <p:nvPr>
            <p:ph type="dt" sz="half" idx="10"/>
          </p:nvPr>
        </p:nvSpPr>
        <p:spPr/>
        <p:txBody>
          <a:bodyPr/>
          <a:lstStyle/>
          <a:p>
            <a:fld id="{7A3F2AE0-A077-4F7D-AE63-606CB286EF9A}" type="datetimeFigureOut">
              <a:rPr lang="en-IN" smtClean="0"/>
              <a:t>13-04-2025</a:t>
            </a:fld>
            <a:endParaRPr lang="en-IN"/>
          </a:p>
        </p:txBody>
      </p:sp>
      <p:sp>
        <p:nvSpPr>
          <p:cNvPr id="5" name="Footer Placeholder 4">
            <a:extLst>
              <a:ext uri="{FF2B5EF4-FFF2-40B4-BE49-F238E27FC236}">
                <a16:creationId xmlns:a16="http://schemas.microsoft.com/office/drawing/2014/main" id="{386191CA-7E80-ED4A-4A37-B4A4A0FB7D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4FAE31-51AB-5FCE-1DAD-B7D74DD25002}"/>
              </a:ext>
            </a:extLst>
          </p:cNvPr>
          <p:cNvSpPr>
            <a:spLocks noGrp="1"/>
          </p:cNvSpPr>
          <p:nvPr>
            <p:ph type="sldNum" sz="quarter" idx="12"/>
          </p:nvPr>
        </p:nvSpPr>
        <p:spPr/>
        <p:txBody>
          <a:bodyPr/>
          <a:lstStyle/>
          <a:p>
            <a:fld id="{DA1A0BCC-6300-43EE-8F7D-F095F185BA4E}" type="slidenum">
              <a:rPr lang="en-IN" smtClean="0"/>
              <a:t>‹#›</a:t>
            </a:fld>
            <a:endParaRPr lang="en-IN"/>
          </a:p>
        </p:txBody>
      </p:sp>
    </p:spTree>
    <p:extLst>
      <p:ext uri="{BB962C8B-B14F-4D97-AF65-F5344CB8AC3E}">
        <p14:creationId xmlns:p14="http://schemas.microsoft.com/office/powerpoint/2010/main" val="1499523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F31975-32BF-B930-92C9-5350E581C7F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DAD3155-5688-074B-D938-CDBED656B76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0A5F5A-F287-DE59-A5F2-C29EDBA6DA8B}"/>
              </a:ext>
            </a:extLst>
          </p:cNvPr>
          <p:cNvSpPr>
            <a:spLocks noGrp="1"/>
          </p:cNvSpPr>
          <p:nvPr>
            <p:ph type="dt" sz="half" idx="10"/>
          </p:nvPr>
        </p:nvSpPr>
        <p:spPr/>
        <p:txBody>
          <a:bodyPr/>
          <a:lstStyle/>
          <a:p>
            <a:fld id="{7A3F2AE0-A077-4F7D-AE63-606CB286EF9A}" type="datetimeFigureOut">
              <a:rPr lang="en-IN" smtClean="0"/>
              <a:t>13-04-2025</a:t>
            </a:fld>
            <a:endParaRPr lang="en-IN"/>
          </a:p>
        </p:txBody>
      </p:sp>
      <p:sp>
        <p:nvSpPr>
          <p:cNvPr id="5" name="Footer Placeholder 4">
            <a:extLst>
              <a:ext uri="{FF2B5EF4-FFF2-40B4-BE49-F238E27FC236}">
                <a16:creationId xmlns:a16="http://schemas.microsoft.com/office/drawing/2014/main" id="{4CC9AC79-7448-C187-3826-E0ACD1A0CB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926DC9-315A-FC9C-51AA-87F2B3978564}"/>
              </a:ext>
            </a:extLst>
          </p:cNvPr>
          <p:cNvSpPr>
            <a:spLocks noGrp="1"/>
          </p:cNvSpPr>
          <p:nvPr>
            <p:ph type="sldNum" sz="quarter" idx="12"/>
          </p:nvPr>
        </p:nvSpPr>
        <p:spPr/>
        <p:txBody>
          <a:bodyPr/>
          <a:lstStyle/>
          <a:p>
            <a:fld id="{DA1A0BCC-6300-43EE-8F7D-F095F185BA4E}" type="slidenum">
              <a:rPr lang="en-IN" smtClean="0"/>
              <a:t>‹#›</a:t>
            </a:fld>
            <a:endParaRPr lang="en-IN"/>
          </a:p>
        </p:txBody>
      </p:sp>
    </p:spTree>
    <p:extLst>
      <p:ext uri="{BB962C8B-B14F-4D97-AF65-F5344CB8AC3E}">
        <p14:creationId xmlns:p14="http://schemas.microsoft.com/office/powerpoint/2010/main" val="15788074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C7C959-9607-91BD-FD5C-7EC17B74AB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A52F068-BB96-847C-5B66-92709ED8DD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78CD63F-F339-F2E8-492C-01C5F3A5E7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3F2AE0-A077-4F7D-AE63-606CB286EF9A}" type="datetimeFigureOut">
              <a:rPr lang="en-IN" smtClean="0"/>
              <a:t>13-04-2025</a:t>
            </a:fld>
            <a:endParaRPr lang="en-IN"/>
          </a:p>
        </p:txBody>
      </p:sp>
      <p:sp>
        <p:nvSpPr>
          <p:cNvPr id="5" name="Footer Placeholder 4">
            <a:extLst>
              <a:ext uri="{FF2B5EF4-FFF2-40B4-BE49-F238E27FC236}">
                <a16:creationId xmlns:a16="http://schemas.microsoft.com/office/drawing/2014/main" id="{53A04460-7082-29DD-E2F2-42951BBB13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DA181A2-D2A9-BB69-9551-FFE2BBF599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1A0BCC-6300-43EE-8F7D-F095F185BA4E}" type="slidenum">
              <a:rPr lang="en-IN" smtClean="0"/>
              <a:t>‹#›</a:t>
            </a:fld>
            <a:endParaRPr lang="en-IN"/>
          </a:p>
        </p:txBody>
      </p:sp>
    </p:spTree>
    <p:extLst>
      <p:ext uri="{BB962C8B-B14F-4D97-AF65-F5344CB8AC3E}">
        <p14:creationId xmlns:p14="http://schemas.microsoft.com/office/powerpoint/2010/main" val="12415973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5DF51-83A0-FBB3-559F-7184420EEDF3}"/>
              </a:ext>
            </a:extLst>
          </p:cNvPr>
          <p:cNvSpPr>
            <a:spLocks noGrp="1"/>
          </p:cNvSpPr>
          <p:nvPr>
            <p:ph type="ctrTitle"/>
          </p:nvPr>
        </p:nvSpPr>
        <p:spPr/>
        <p:txBody>
          <a:bodyPr/>
          <a:lstStyle/>
          <a:p>
            <a:r>
              <a:rPr lang="en-IN" b="1" dirty="0"/>
              <a:t>Wind Energy Generation Models</a:t>
            </a:r>
          </a:p>
        </p:txBody>
      </p:sp>
      <p:sp>
        <p:nvSpPr>
          <p:cNvPr id="3" name="Subtitle 2">
            <a:extLst>
              <a:ext uri="{FF2B5EF4-FFF2-40B4-BE49-F238E27FC236}">
                <a16:creationId xmlns:a16="http://schemas.microsoft.com/office/drawing/2014/main" id="{5E6E87D8-0127-B785-65E6-8DC11178C27E}"/>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080618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AF1DF-BFE8-238F-C095-9D2D01D8C308}"/>
              </a:ext>
            </a:extLst>
          </p:cNvPr>
          <p:cNvSpPr>
            <a:spLocks noGrp="1"/>
          </p:cNvSpPr>
          <p:nvPr>
            <p:ph type="title"/>
          </p:nvPr>
        </p:nvSpPr>
        <p:spPr>
          <a:xfrm>
            <a:off x="766281" y="0"/>
            <a:ext cx="10515600" cy="1325563"/>
          </a:xfrm>
        </p:spPr>
        <p:txBody>
          <a:bodyPr/>
          <a:lstStyle/>
          <a:p>
            <a:r>
              <a:rPr lang="en-IN" b="1" dirty="0"/>
              <a:t>Wind Turbines</a:t>
            </a:r>
          </a:p>
        </p:txBody>
      </p:sp>
      <p:sp>
        <p:nvSpPr>
          <p:cNvPr id="3" name="Content Placeholder 2">
            <a:extLst>
              <a:ext uri="{FF2B5EF4-FFF2-40B4-BE49-F238E27FC236}">
                <a16:creationId xmlns:a16="http://schemas.microsoft.com/office/drawing/2014/main" id="{3BACEE4F-CCC1-DF26-458A-AE839CCC7C35}"/>
              </a:ext>
            </a:extLst>
          </p:cNvPr>
          <p:cNvSpPr>
            <a:spLocks noGrp="1"/>
          </p:cNvSpPr>
          <p:nvPr>
            <p:ph idx="1"/>
          </p:nvPr>
        </p:nvSpPr>
        <p:spPr>
          <a:xfrm>
            <a:off x="838200" y="1376737"/>
            <a:ext cx="10515600" cy="4800226"/>
          </a:xfrm>
        </p:spPr>
        <p:txBody>
          <a:bodyPr>
            <a:normAutofit fontScale="77500" lnSpcReduction="20000"/>
          </a:bodyPr>
          <a:lstStyle/>
          <a:p>
            <a:pPr>
              <a:lnSpc>
                <a:spcPct val="120000"/>
              </a:lnSpc>
            </a:pPr>
            <a:r>
              <a:rPr lang="en-US" dirty="0"/>
              <a:t>Wind turbines are mechanical devices designed to capture wind's kinetic energy and convert it into mechanical or electrical energy.</a:t>
            </a:r>
          </a:p>
          <a:p>
            <a:pPr>
              <a:lnSpc>
                <a:spcPct val="120000"/>
              </a:lnSpc>
            </a:pPr>
            <a:r>
              <a:rPr lang="en-US" dirty="0"/>
              <a:t> Wind, which is essentially moving air, possesses kinetic energy due to its motion. When wind interacts with the blades of a wind turbine, it exerts a force on them, causing them to rotate. This rotational motion is then transferred to a generator through a shaft, which converts the mechanical energy into electrical energy.</a:t>
            </a:r>
          </a:p>
          <a:p>
            <a:pPr>
              <a:lnSpc>
                <a:spcPct val="120000"/>
              </a:lnSpc>
            </a:pPr>
            <a:r>
              <a:rPr lang="en-US" dirty="0"/>
              <a:t>The main components of a wind turbine are:</a:t>
            </a:r>
          </a:p>
          <a:p>
            <a:pPr marL="514350" indent="-514350">
              <a:lnSpc>
                <a:spcPct val="120000"/>
              </a:lnSpc>
              <a:buFont typeface="+mj-lt"/>
              <a:buAutoNum type="arabicPeriod"/>
            </a:pPr>
            <a:r>
              <a:rPr lang="en-US" b="1" dirty="0"/>
              <a:t>Rotor</a:t>
            </a:r>
            <a:r>
              <a:rPr lang="en-US" dirty="0"/>
              <a:t>: The part that captures wind energy, usually with three blades attached to a shaft. The blades work similarly to airplane wings or helicopter rotor blades. </a:t>
            </a:r>
          </a:p>
          <a:p>
            <a:pPr marL="514350" indent="-514350">
              <a:lnSpc>
                <a:spcPct val="120000"/>
              </a:lnSpc>
              <a:buFont typeface="+mj-lt"/>
              <a:buAutoNum type="arabicPeriod"/>
            </a:pPr>
            <a:r>
              <a:rPr lang="en-US" b="1" dirty="0"/>
              <a:t>Generator</a:t>
            </a:r>
            <a:r>
              <a:rPr lang="en-US" dirty="0"/>
              <a:t>: Converts the rotational motion of the rotor into electricity. The generator is made of magnets and conducting wire wrapped around a core. </a:t>
            </a:r>
          </a:p>
          <a:p>
            <a:endParaRPr lang="en-US" dirty="0"/>
          </a:p>
          <a:p>
            <a:endParaRPr lang="en-IN" dirty="0"/>
          </a:p>
        </p:txBody>
      </p:sp>
      <p:sp>
        <p:nvSpPr>
          <p:cNvPr id="5" name="Rectangle 2">
            <a:extLst>
              <a:ext uri="{FF2B5EF4-FFF2-40B4-BE49-F238E27FC236}">
                <a16:creationId xmlns:a16="http://schemas.microsoft.com/office/drawing/2014/main" id="{5AD82379-A44B-8110-A680-6C5D30B84C89}"/>
              </a:ext>
            </a:extLst>
          </p:cNvPr>
          <p:cNvSpPr>
            <a:spLocks noChangeArrowheads="1"/>
          </p:cNvSpPr>
          <p:nvPr/>
        </p:nvSpPr>
        <p:spPr bwMode="auto">
          <a:xfrm>
            <a:off x="0" y="-234649"/>
            <a:ext cx="65" cy="4692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6348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497926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Content Placeholder 16">
            <a:extLst>
              <a:ext uri="{FF2B5EF4-FFF2-40B4-BE49-F238E27FC236}">
                <a16:creationId xmlns:a16="http://schemas.microsoft.com/office/drawing/2014/main" id="{8D5B9F4D-DE96-B9A4-0173-46311B7DC7FC}"/>
              </a:ext>
            </a:extLst>
          </p:cNvPr>
          <p:cNvSpPr>
            <a:spLocks noGrp="1"/>
          </p:cNvSpPr>
          <p:nvPr>
            <p:ph idx="1"/>
          </p:nvPr>
        </p:nvSpPr>
        <p:spPr>
          <a:xfrm>
            <a:off x="591620" y="1182708"/>
            <a:ext cx="7309207" cy="4858496"/>
          </a:xfrm>
        </p:spPr>
        <p:txBody>
          <a:bodyPr>
            <a:normAutofit/>
          </a:bodyPr>
          <a:lstStyle/>
          <a:p>
            <a:r>
              <a:rPr lang="en-US" b="1" dirty="0"/>
              <a:t>Nacelle</a:t>
            </a:r>
            <a:r>
              <a:rPr lang="en-US" dirty="0"/>
              <a:t>: A large, box-shaped structure that houses the generator, gearbox, and other key components. It also contains sensors and control systems that monitor and adjust the turbine's performance. </a:t>
            </a:r>
          </a:p>
          <a:p>
            <a:r>
              <a:rPr lang="en-US" b="1" dirty="0"/>
              <a:t>Tower</a:t>
            </a:r>
            <a:r>
              <a:rPr lang="en-US" dirty="0"/>
              <a:t>: The structure that supports the rotor and generator at the top. </a:t>
            </a:r>
          </a:p>
          <a:p>
            <a:endParaRPr lang="en-IN" dirty="0"/>
          </a:p>
        </p:txBody>
      </p:sp>
      <p:pic>
        <p:nvPicPr>
          <p:cNvPr id="2061" name="Picture 13" descr="Wind Turbine Components - WindSolarUSA">
            <a:extLst>
              <a:ext uri="{FF2B5EF4-FFF2-40B4-BE49-F238E27FC236}">
                <a16:creationId xmlns:a16="http://schemas.microsoft.com/office/drawing/2014/main" id="{576318C7-E563-DEC3-5EF0-399731FD0E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26389" y="968928"/>
            <a:ext cx="3650537" cy="3856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85411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1B7FE-E4A2-8DD3-1054-395AB21367F1}"/>
              </a:ext>
            </a:extLst>
          </p:cNvPr>
          <p:cNvSpPr>
            <a:spLocks noGrp="1"/>
          </p:cNvSpPr>
          <p:nvPr>
            <p:ph type="title"/>
          </p:nvPr>
        </p:nvSpPr>
        <p:spPr/>
        <p:txBody>
          <a:bodyPr/>
          <a:lstStyle/>
          <a:p>
            <a:r>
              <a:rPr lang="en-IN" b="1" dirty="0"/>
              <a:t>Power Curve</a:t>
            </a:r>
          </a:p>
        </p:txBody>
      </p:sp>
      <p:sp>
        <p:nvSpPr>
          <p:cNvPr id="3" name="Content Placeholder 2">
            <a:extLst>
              <a:ext uri="{FF2B5EF4-FFF2-40B4-BE49-F238E27FC236}">
                <a16:creationId xmlns:a16="http://schemas.microsoft.com/office/drawing/2014/main" id="{9337C7E1-2488-19BA-D0D6-C067F1E606B7}"/>
              </a:ext>
            </a:extLst>
          </p:cNvPr>
          <p:cNvSpPr>
            <a:spLocks noGrp="1"/>
          </p:cNvSpPr>
          <p:nvPr>
            <p:ph idx="1"/>
          </p:nvPr>
        </p:nvSpPr>
        <p:spPr>
          <a:xfrm>
            <a:off x="838200" y="1417834"/>
            <a:ext cx="6425629" cy="4931595"/>
          </a:xfrm>
        </p:spPr>
        <p:txBody>
          <a:bodyPr>
            <a:normAutofit/>
          </a:bodyPr>
          <a:lstStyle/>
          <a:p>
            <a:pPr marL="0" indent="0">
              <a:buNone/>
            </a:pPr>
            <a:r>
              <a:rPr lang="en-US" sz="2800" dirty="0"/>
              <a:t>A typical power curve has three regions:</a:t>
            </a:r>
          </a:p>
          <a:p>
            <a:pPr>
              <a:buFont typeface="+mj-lt"/>
              <a:buAutoNum type="arabicPeriod"/>
            </a:pPr>
            <a:r>
              <a:rPr lang="en-US" sz="2800" b="1" dirty="0"/>
              <a:t>Cut-in wind speed</a:t>
            </a:r>
            <a:r>
              <a:rPr lang="en-US" sz="2800" dirty="0"/>
              <a:t>: The minimum wind speed at which the turbine starts generating power.</a:t>
            </a:r>
          </a:p>
          <a:p>
            <a:pPr>
              <a:buFont typeface="+mj-lt"/>
              <a:buAutoNum type="arabicPeriod"/>
            </a:pPr>
            <a:r>
              <a:rPr lang="en-US" sz="2800" b="1" dirty="0"/>
              <a:t>Rated wind speed</a:t>
            </a:r>
            <a:r>
              <a:rPr lang="en-US" sz="2800" dirty="0"/>
              <a:t>: The wind speed at which the turbine generates its maximum (rated) power.</a:t>
            </a:r>
          </a:p>
          <a:p>
            <a:pPr>
              <a:buFont typeface="+mj-lt"/>
              <a:buAutoNum type="arabicPeriod"/>
            </a:pPr>
            <a:r>
              <a:rPr lang="en-US" sz="2800" b="1" dirty="0"/>
              <a:t>Cut-out wind speed</a:t>
            </a:r>
            <a:r>
              <a:rPr lang="en-US" sz="2800" dirty="0"/>
              <a:t>: The maximum wind speed at which the turbine is allowed to operate. Above this, the turbine is shut down to avoid damage</a:t>
            </a:r>
            <a:endParaRPr lang="en-IN" dirty="0"/>
          </a:p>
        </p:txBody>
      </p:sp>
      <p:pic>
        <p:nvPicPr>
          <p:cNvPr id="1032" name="Picture 8" descr="Energies 10 01976 g001 550">
            <a:extLst>
              <a:ext uri="{FF2B5EF4-FFF2-40B4-BE49-F238E27FC236}">
                <a16:creationId xmlns:a16="http://schemas.microsoft.com/office/drawing/2014/main" id="{2B7651A2-E8EC-012F-0B5A-D6EA383099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8355" y="1823056"/>
            <a:ext cx="4122291" cy="30355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5626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4E275-AF62-992E-86A3-B70D7CD08269}"/>
              </a:ext>
            </a:extLst>
          </p:cNvPr>
          <p:cNvSpPr>
            <a:spLocks noGrp="1"/>
          </p:cNvSpPr>
          <p:nvPr>
            <p:ph type="title"/>
          </p:nvPr>
        </p:nvSpPr>
        <p:spPr>
          <a:xfrm>
            <a:off x="581346" y="0"/>
            <a:ext cx="10515600" cy="1325563"/>
          </a:xfrm>
        </p:spPr>
        <p:txBody>
          <a:bodyPr/>
          <a:lstStyle/>
          <a:p>
            <a:r>
              <a:rPr lang="en-IN" b="1" dirty="0"/>
              <a:t>Types of Wind Turbines</a:t>
            </a:r>
          </a:p>
        </p:txBody>
      </p:sp>
      <p:sp>
        <p:nvSpPr>
          <p:cNvPr id="3" name="Content Placeholder 2">
            <a:extLst>
              <a:ext uri="{FF2B5EF4-FFF2-40B4-BE49-F238E27FC236}">
                <a16:creationId xmlns:a16="http://schemas.microsoft.com/office/drawing/2014/main" id="{42363028-703F-35F1-1437-D80514790DAF}"/>
              </a:ext>
            </a:extLst>
          </p:cNvPr>
          <p:cNvSpPr>
            <a:spLocks noGrp="1"/>
          </p:cNvSpPr>
          <p:nvPr>
            <p:ph idx="1"/>
          </p:nvPr>
        </p:nvSpPr>
        <p:spPr>
          <a:xfrm>
            <a:off x="838200" y="1510301"/>
            <a:ext cx="10515600" cy="4666662"/>
          </a:xfrm>
        </p:spPr>
        <p:txBody>
          <a:bodyPr>
            <a:normAutofit fontScale="92500" lnSpcReduction="20000"/>
          </a:bodyPr>
          <a:lstStyle/>
          <a:p>
            <a:pPr marL="0" indent="0">
              <a:buNone/>
            </a:pPr>
            <a:r>
              <a:rPr lang="en-IN" sz="3200" b="1" i="0" dirty="0">
                <a:solidFill>
                  <a:srgbClr val="001D35"/>
                </a:solidFill>
                <a:effectLst/>
                <a:latin typeface="Google Sans"/>
              </a:rPr>
              <a:t>Horizontal-axis turbines</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Most common type.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Rotor is parallel to the wind direction.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High efficiency. </a:t>
            </a:r>
          </a:p>
          <a:p>
            <a:pPr marL="0" marR="0" lvl="0" indent="0" algn="l" defTabSz="914400" rtl="0" eaLnBrk="0" fontAlgn="base" latinLnBrk="0" hangingPunct="0">
              <a:lnSpc>
                <a:spcPct val="16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Arial" panose="020B0604020202020204" pitchFamily="34" charset="0"/>
              </a:rPr>
              <a:t>Advantages</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indent="0" eaLnBrk="0" fontAlgn="base" hangingPunct="0">
              <a:lnSpc>
                <a:spcPct val="160000"/>
              </a:lnSpc>
              <a:spcBef>
                <a:spcPct val="0"/>
              </a:spcBef>
              <a:spcAft>
                <a:spcPct val="0"/>
              </a:spcAft>
              <a:buNone/>
            </a:pPr>
            <a:r>
              <a:rPr kumimoji="0" lang="en-US" altLang="en-US" sz="2400" b="0" i="0" u="none" strike="noStrike" cap="none" normalizeH="0" baseline="0" dirty="0">
                <a:ln>
                  <a:noFill/>
                </a:ln>
                <a:solidFill>
                  <a:schemeClr val="tx1"/>
                </a:solidFill>
                <a:effectLst/>
                <a:latin typeface="Arial" panose="020B0604020202020204" pitchFamily="34" charset="0"/>
              </a:rPr>
              <a:t>   Higher efficiency as blades capture maximum wind energy.</a:t>
            </a:r>
          </a:p>
          <a:p>
            <a:pPr marL="0" indent="0" eaLnBrk="0" fontAlgn="base" hangingPunct="0">
              <a:lnSpc>
                <a:spcPct val="160000"/>
              </a:lnSpc>
              <a:spcBef>
                <a:spcPct val="0"/>
              </a:spcBef>
              <a:spcAft>
                <a:spcPct val="0"/>
              </a:spcAft>
              <a:buNone/>
            </a:pPr>
            <a:r>
              <a:rPr kumimoji="0" lang="en-US" altLang="en-US" sz="2400" b="0" i="0" u="none" strike="noStrike" cap="none" normalizeH="0" baseline="0" dirty="0">
                <a:ln>
                  <a:noFill/>
                </a:ln>
                <a:solidFill>
                  <a:schemeClr val="tx1"/>
                </a:solidFill>
                <a:effectLst/>
                <a:latin typeface="Arial" panose="020B0604020202020204" pitchFamily="34" charset="0"/>
              </a:rPr>
              <a:t>   Well-suited for locations with consistent wind.</a:t>
            </a:r>
          </a:p>
          <a:p>
            <a:pPr marL="0" marR="0" lvl="0" indent="0" algn="l" defTabSz="914400" rtl="0" eaLnBrk="0" fontAlgn="base" latinLnBrk="0" hangingPunct="0">
              <a:lnSpc>
                <a:spcPct val="16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Arial" panose="020B0604020202020204" pitchFamily="34" charset="0"/>
              </a:rPr>
              <a:t>Disadvantages</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6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Arial" panose="020B0604020202020204" pitchFamily="34" charset="0"/>
              </a:rPr>
              <a:t>   Requires yaw mechanism to align with wind direction.</a:t>
            </a:r>
          </a:p>
          <a:p>
            <a:pPr marL="0" marR="0" lvl="0" indent="0" algn="l" defTabSz="914400" rtl="0" eaLnBrk="0" fontAlgn="base" latinLnBrk="0" hangingPunct="0">
              <a:lnSpc>
                <a:spcPct val="160000"/>
              </a:lnSpc>
              <a:spcBef>
                <a:spcPct val="0"/>
              </a:spcBef>
              <a:spcAft>
                <a:spcPct val="0"/>
              </a:spcAft>
              <a:buClrTx/>
              <a:buSzTx/>
              <a:buNone/>
              <a:tabLst/>
            </a:pPr>
            <a:r>
              <a:rPr lang="en-US" altLang="en-US" sz="2400" dirty="0">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  Larger footprint and higher installation costs.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indent="0">
              <a:buNone/>
            </a:pPr>
            <a:endParaRPr lang="en-IN" dirty="0"/>
          </a:p>
          <a:p>
            <a:pPr marL="0" indent="0">
              <a:buNone/>
            </a:pPr>
            <a:endParaRPr lang="en-IN" sz="3200" b="1" dirty="0"/>
          </a:p>
        </p:txBody>
      </p:sp>
    </p:spTree>
    <p:extLst>
      <p:ext uri="{BB962C8B-B14F-4D97-AF65-F5344CB8AC3E}">
        <p14:creationId xmlns:p14="http://schemas.microsoft.com/office/powerpoint/2010/main" val="8047405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FC32E4-3B03-95F9-AD1B-04A124AEE15F}"/>
              </a:ext>
            </a:extLst>
          </p:cNvPr>
          <p:cNvSpPr>
            <a:spLocks noGrp="1"/>
          </p:cNvSpPr>
          <p:nvPr>
            <p:ph idx="1"/>
          </p:nvPr>
        </p:nvSpPr>
        <p:spPr>
          <a:xfrm>
            <a:off x="838200" y="365125"/>
            <a:ext cx="7350303" cy="5811838"/>
          </a:xfrm>
        </p:spPr>
        <p:txBody>
          <a:bodyPr>
            <a:normAutofit lnSpcReduction="10000"/>
          </a:bodyPr>
          <a:lstStyle/>
          <a:p>
            <a:pPr marL="0" indent="0">
              <a:buNone/>
            </a:pPr>
            <a:r>
              <a:rPr lang="en-IN" sz="3600" b="1" dirty="0"/>
              <a:t>Vertical Axis Wind Turbines (VAWT)</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Rotor is perpendicular to the wind.</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Easier to maintain but less efficient. </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Arial" panose="020B0604020202020204" pitchFamily="34" charset="0"/>
              </a:rPr>
              <a:t>Advantages</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Arial" panose="020B0604020202020204" pitchFamily="34" charset="0"/>
              </a:rPr>
              <a:t>  Operates in all wind directions</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Arial" panose="020B0604020202020204" pitchFamily="34" charset="0"/>
              </a:rPr>
              <a:t>  Easier maintenance as components are closer to</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Arial" panose="020B0604020202020204" pitchFamily="34" charset="0"/>
              </a:rPr>
              <a:t>  the ground.</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Arial" panose="020B0604020202020204" pitchFamily="34" charset="0"/>
              </a:rPr>
              <a:t>Disadvantages</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Arial" panose="020B0604020202020204" pitchFamily="34" charset="0"/>
              </a:rPr>
              <a:t>  Lower efficiency compared to HAWT.</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Arial" panose="020B0604020202020204" pitchFamily="34" charset="0"/>
              </a:rPr>
              <a:t>  Less stable and suitable for large-scale </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Arial" panose="020B0604020202020204" pitchFamily="34" charset="0"/>
              </a:rPr>
              <a:t>  applications</a:t>
            </a:r>
            <a:r>
              <a:rPr kumimoji="0" lang="en-US" altLang="en-US" sz="2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endParaRPr lang="en-IN" dirty="0"/>
          </a:p>
        </p:txBody>
      </p:sp>
      <p:pic>
        <p:nvPicPr>
          <p:cNvPr id="5" name="Content Placeholder 4">
            <a:extLst>
              <a:ext uri="{FF2B5EF4-FFF2-40B4-BE49-F238E27FC236}">
                <a16:creationId xmlns:a16="http://schemas.microsoft.com/office/drawing/2014/main" id="{30ECFB1C-DF19-EDBC-3E51-DB9E1591E59F}"/>
              </a:ext>
            </a:extLst>
          </p:cNvPr>
          <p:cNvPicPr>
            <a:picLocks noChangeAspect="1"/>
          </p:cNvPicPr>
          <p:nvPr/>
        </p:nvPicPr>
        <p:blipFill>
          <a:blip r:embed="rId2"/>
          <a:stretch>
            <a:fillRect/>
          </a:stretch>
        </p:blipFill>
        <p:spPr>
          <a:xfrm>
            <a:off x="7743288" y="2151394"/>
            <a:ext cx="4448712" cy="3326514"/>
          </a:xfrm>
          <a:prstGeom prst="rect">
            <a:avLst/>
          </a:prstGeom>
        </p:spPr>
      </p:pic>
    </p:spTree>
    <p:extLst>
      <p:ext uri="{BB962C8B-B14F-4D97-AF65-F5344CB8AC3E}">
        <p14:creationId xmlns:p14="http://schemas.microsoft.com/office/powerpoint/2010/main" val="13217951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C33BC-971F-5576-49A3-295AE5A10C14}"/>
              </a:ext>
            </a:extLst>
          </p:cNvPr>
          <p:cNvSpPr>
            <a:spLocks noGrp="1"/>
          </p:cNvSpPr>
          <p:nvPr>
            <p:ph type="title"/>
          </p:nvPr>
        </p:nvSpPr>
        <p:spPr/>
        <p:txBody>
          <a:bodyPr/>
          <a:lstStyle/>
          <a:p>
            <a:r>
              <a:rPr lang="en-IN" b="1" dirty="0"/>
              <a:t>Classification of Models</a:t>
            </a:r>
          </a:p>
        </p:txBody>
      </p:sp>
      <p:sp>
        <p:nvSpPr>
          <p:cNvPr id="3" name="Content Placeholder 2">
            <a:extLst>
              <a:ext uri="{FF2B5EF4-FFF2-40B4-BE49-F238E27FC236}">
                <a16:creationId xmlns:a16="http://schemas.microsoft.com/office/drawing/2014/main" id="{37BAF00B-4048-C207-D26D-CF0F764D9506}"/>
              </a:ext>
            </a:extLst>
          </p:cNvPr>
          <p:cNvSpPr>
            <a:spLocks noGrp="1"/>
          </p:cNvSpPr>
          <p:nvPr>
            <p:ph idx="1"/>
          </p:nvPr>
        </p:nvSpPr>
        <p:spPr/>
        <p:txBody>
          <a:bodyPr/>
          <a:lstStyle/>
          <a:p>
            <a:pPr marL="0" indent="0">
              <a:buNone/>
            </a:pPr>
            <a:endParaRPr lang="en-IN" b="1" dirty="0"/>
          </a:p>
          <a:p>
            <a:pPr marL="0" indent="0">
              <a:buNone/>
            </a:pPr>
            <a:r>
              <a:rPr lang="en-IN" b="1" dirty="0"/>
              <a:t>Content:</a:t>
            </a:r>
            <a:endParaRPr lang="en-IN" dirty="0"/>
          </a:p>
          <a:p>
            <a:pPr>
              <a:buFont typeface="Arial" panose="020B0604020202020204" pitchFamily="34" charset="0"/>
              <a:buChar char="•"/>
            </a:pPr>
            <a:r>
              <a:rPr lang="en-IN" b="1" dirty="0"/>
              <a:t>Physical Models:</a:t>
            </a:r>
            <a:r>
              <a:rPr lang="en-IN" dirty="0"/>
              <a:t> Based on aerodynamic equations.</a:t>
            </a:r>
          </a:p>
          <a:p>
            <a:pPr>
              <a:buFont typeface="Arial" panose="020B0604020202020204" pitchFamily="34" charset="0"/>
              <a:buChar char="•"/>
            </a:pPr>
            <a:r>
              <a:rPr lang="en-IN" b="1" dirty="0"/>
              <a:t>Statistical Models:</a:t>
            </a:r>
            <a:r>
              <a:rPr lang="en-IN" dirty="0"/>
              <a:t> Use time-series data .</a:t>
            </a:r>
          </a:p>
          <a:p>
            <a:pPr>
              <a:buFont typeface="Arial" panose="020B0604020202020204" pitchFamily="34" charset="0"/>
              <a:buChar char="•"/>
            </a:pPr>
            <a:r>
              <a:rPr lang="en-IN" b="1" dirty="0"/>
              <a:t>Hybrid Models:</a:t>
            </a:r>
            <a:r>
              <a:rPr lang="en-IN" dirty="0"/>
              <a:t> Combine statistical models with AI/ML techniques.</a:t>
            </a:r>
          </a:p>
          <a:p>
            <a:endParaRPr lang="en-IN" dirty="0"/>
          </a:p>
        </p:txBody>
      </p:sp>
    </p:spTree>
    <p:extLst>
      <p:ext uri="{BB962C8B-B14F-4D97-AF65-F5344CB8AC3E}">
        <p14:creationId xmlns:p14="http://schemas.microsoft.com/office/powerpoint/2010/main" val="40134000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A60C5-AB54-6350-E26F-9F89FB324F53}"/>
              </a:ext>
            </a:extLst>
          </p:cNvPr>
          <p:cNvSpPr>
            <a:spLocks noGrp="1"/>
          </p:cNvSpPr>
          <p:nvPr>
            <p:ph type="title"/>
          </p:nvPr>
        </p:nvSpPr>
        <p:spPr>
          <a:xfrm>
            <a:off x="714910" y="-97212"/>
            <a:ext cx="10515600" cy="1325563"/>
          </a:xfrm>
        </p:spPr>
        <p:txBody>
          <a:bodyPr/>
          <a:lstStyle/>
          <a:p>
            <a:r>
              <a:rPr lang="en-IN" b="1" dirty="0"/>
              <a:t>Physical Models</a:t>
            </a:r>
          </a:p>
        </p:txBody>
      </p:sp>
      <p:sp>
        <p:nvSpPr>
          <p:cNvPr id="3" name="Content Placeholder 2">
            <a:extLst>
              <a:ext uri="{FF2B5EF4-FFF2-40B4-BE49-F238E27FC236}">
                <a16:creationId xmlns:a16="http://schemas.microsoft.com/office/drawing/2014/main" id="{83D686A8-F4E9-54FF-2B2B-4D2469F29D22}"/>
              </a:ext>
            </a:extLst>
          </p:cNvPr>
          <p:cNvSpPr>
            <a:spLocks noGrp="1"/>
          </p:cNvSpPr>
          <p:nvPr>
            <p:ph idx="1"/>
          </p:nvPr>
        </p:nvSpPr>
        <p:spPr>
          <a:xfrm>
            <a:off x="838200" y="1037690"/>
            <a:ext cx="10515600" cy="5465851"/>
          </a:xfrm>
        </p:spPr>
        <p:txBody>
          <a:bodyPr>
            <a:normAutofit/>
          </a:bodyPr>
          <a:lstStyle/>
          <a:p>
            <a:pPr marL="0" indent="0">
              <a:buNone/>
            </a:pPr>
            <a:r>
              <a:rPr lang="en-IN" b="1" dirty="0"/>
              <a:t>Actuator Disk Model (ADM)</a:t>
            </a:r>
          </a:p>
          <a:p>
            <a:r>
              <a:rPr lang="en-US" sz="2400" dirty="0"/>
              <a:t>Treats the wind turbine rotor as a thin, porous disk that uniformly extracts energy from the wind.</a:t>
            </a:r>
          </a:p>
          <a:p>
            <a:r>
              <a:rPr lang="en-US" sz="2400" dirty="0"/>
              <a:t>Based on momentum theory and energy conservation.</a:t>
            </a:r>
          </a:p>
          <a:p>
            <a:endParaRPr lang="en-US" sz="2400" dirty="0"/>
          </a:p>
          <a:p>
            <a:pPr marL="0" indent="0">
              <a:buNone/>
            </a:pPr>
            <a:r>
              <a:rPr lang="en-US" sz="2400" b="1" dirty="0"/>
              <a:t>Assumptions:</a:t>
            </a:r>
          </a:p>
          <a:p>
            <a:pPr marL="457200" indent="-457200">
              <a:buFont typeface="+mj-lt"/>
              <a:buAutoNum type="arabicPeriod"/>
            </a:pPr>
            <a:r>
              <a:rPr lang="en-US" sz="2400" dirty="0"/>
              <a:t>Uniform wind speed across the disk.</a:t>
            </a:r>
          </a:p>
          <a:p>
            <a:pPr marL="457200" indent="-457200">
              <a:buFont typeface="+mj-lt"/>
              <a:buAutoNum type="arabicPeriod"/>
            </a:pPr>
            <a:r>
              <a:rPr lang="en-US" sz="2400" dirty="0"/>
              <a:t>No rotational wake effects.</a:t>
            </a:r>
          </a:p>
          <a:p>
            <a:pPr marL="457200" indent="-457200">
              <a:buFont typeface="+mj-lt"/>
              <a:buAutoNum type="arabicPeriod"/>
            </a:pPr>
            <a:r>
              <a:rPr lang="en-US" sz="2400" dirty="0"/>
              <a:t>Steady and incompressible flow.</a:t>
            </a:r>
            <a:endParaRPr lang="en-IN" sz="2400" dirty="0"/>
          </a:p>
        </p:txBody>
      </p:sp>
    </p:spTree>
    <p:extLst>
      <p:ext uri="{BB962C8B-B14F-4D97-AF65-F5344CB8AC3E}">
        <p14:creationId xmlns:p14="http://schemas.microsoft.com/office/powerpoint/2010/main" val="568468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6E80D8D-4827-35A3-66EE-3D4ACECA5878}"/>
                  </a:ext>
                </a:extLst>
              </p:cNvPr>
              <p:cNvSpPr>
                <a:spLocks noGrp="1"/>
              </p:cNvSpPr>
              <p:nvPr>
                <p:ph idx="1"/>
              </p:nvPr>
            </p:nvSpPr>
            <p:spPr>
              <a:xfrm>
                <a:off x="694362" y="1168079"/>
                <a:ext cx="10515600" cy="4351338"/>
              </a:xfrm>
            </p:spPr>
            <p:txBody>
              <a:bodyPr/>
              <a:lstStyle/>
              <a:p>
                <a:pPr marL="0" indent="0">
                  <a:buNone/>
                </a:pPr>
                <a14:m>
                  <m:oMathPara xmlns:m="http://schemas.openxmlformats.org/officeDocument/2006/math">
                    <m:oMathParaPr>
                      <m:jc m:val="centerGroup"/>
                    </m:oMathParaPr>
                    <m:oMath xmlns:m="http://schemas.openxmlformats.org/officeDocument/2006/math">
                      <m:r>
                        <a:rPr lang="en-IN" sz="2800" i="0" smtClean="0">
                          <a:latin typeface="Cambria Math" panose="02040503050406030204" pitchFamily="18" charset="0"/>
                        </a:rPr>
                        <m:t>𝑃</m:t>
                      </m:r>
                      <m:r>
                        <a:rPr lang="en-IN" sz="2800" i="0" smtClean="0">
                          <a:latin typeface="Cambria Math" panose="02040503050406030204" pitchFamily="18" charset="0"/>
                        </a:rPr>
                        <m:t>=</m:t>
                      </m:r>
                      <m:f>
                        <m:fPr>
                          <m:ctrlPr>
                            <a:rPr lang="en-IN" sz="2800" i="1" smtClean="0">
                              <a:solidFill>
                                <a:srgbClr val="836967"/>
                              </a:solidFill>
                              <a:latin typeface="Cambria Math" panose="02040503050406030204" pitchFamily="18" charset="0"/>
                            </a:rPr>
                          </m:ctrlPr>
                        </m:fPr>
                        <m:num>
                          <m:r>
                            <a:rPr lang="en-IN" sz="2800" i="0" smtClean="0">
                              <a:latin typeface="Cambria Math" panose="02040503050406030204" pitchFamily="18" charset="0"/>
                            </a:rPr>
                            <m:t>1</m:t>
                          </m:r>
                        </m:num>
                        <m:den>
                          <m:r>
                            <a:rPr lang="en-IN" sz="2800" i="0" smtClean="0">
                              <a:latin typeface="Cambria Math" panose="02040503050406030204" pitchFamily="18" charset="0"/>
                            </a:rPr>
                            <m:t>2</m:t>
                          </m:r>
                        </m:den>
                      </m:f>
                      <m:r>
                        <a:rPr lang="en-IN" sz="2800" i="0" smtClean="0">
                          <a:latin typeface="Cambria Math" panose="02040503050406030204" pitchFamily="18" charset="0"/>
                        </a:rPr>
                        <m:t>×</m:t>
                      </m:r>
                      <m:r>
                        <a:rPr lang="en-IN" sz="2800" i="0" smtClean="0">
                          <a:latin typeface="Cambria Math" panose="02040503050406030204" pitchFamily="18" charset="0"/>
                        </a:rPr>
                        <m:t>𝜌</m:t>
                      </m:r>
                      <m:r>
                        <a:rPr lang="en-IN" sz="2800" i="0" smtClean="0">
                          <a:latin typeface="Cambria Math" panose="02040503050406030204" pitchFamily="18" charset="0"/>
                        </a:rPr>
                        <m:t>𝐴</m:t>
                      </m:r>
                      <m:sSup>
                        <m:sSupPr>
                          <m:ctrlPr>
                            <a:rPr lang="en-IN" sz="2800" i="1" smtClean="0">
                              <a:solidFill>
                                <a:srgbClr val="836967"/>
                              </a:solidFill>
                              <a:latin typeface="Cambria Math" panose="02040503050406030204" pitchFamily="18" charset="0"/>
                            </a:rPr>
                          </m:ctrlPr>
                        </m:sSupPr>
                        <m:e>
                          <m:r>
                            <a:rPr lang="en-IN" sz="2800" i="0" smtClean="0">
                              <a:latin typeface="Cambria Math" panose="02040503050406030204" pitchFamily="18" charset="0"/>
                            </a:rPr>
                            <m:t>𝑣</m:t>
                          </m:r>
                        </m:e>
                        <m:sup>
                          <m:r>
                            <a:rPr lang="en-IN" sz="2800" i="0" smtClean="0">
                              <a:latin typeface="Cambria Math" panose="02040503050406030204" pitchFamily="18" charset="0"/>
                            </a:rPr>
                            <m:t>3</m:t>
                          </m:r>
                        </m:sup>
                      </m:sSup>
                      <m:r>
                        <a:rPr lang="en-IN" sz="2800" i="0" smtClean="0">
                          <a:latin typeface="Cambria Math" panose="02040503050406030204" pitchFamily="18" charset="0"/>
                        </a:rPr>
                        <m:t>𝐶𝑝</m:t>
                      </m:r>
                    </m:oMath>
                  </m:oMathPara>
                </a14:m>
                <a:endParaRPr lang="en-IN" sz="2800" dirty="0"/>
              </a:p>
              <a:p>
                <a:pPr marL="0" indent="0">
                  <a:buNone/>
                </a:pPr>
                <a:r>
                  <a:rPr lang="en-IN" sz="2800" dirty="0"/>
                  <a:t>Where,</a:t>
                </a:r>
              </a:p>
              <a:p>
                <a:pPr marL="0" indent="0">
                  <a:buNone/>
                </a:pPr>
                <a:r>
                  <a:rPr lang="en-IN" sz="2800" dirty="0"/>
                  <a:t>     P: Power </a:t>
                </a:r>
              </a:p>
              <a:p>
                <a:pPr marL="0" indent="0">
                  <a:buNone/>
                </a:pPr>
                <a:r>
                  <a:rPr lang="en-US" sz="2800" dirty="0"/>
                  <a:t>     ρ: Air density </a:t>
                </a:r>
              </a:p>
              <a:p>
                <a:pPr marL="0" indent="0">
                  <a:buNone/>
                </a:pPr>
                <a:r>
                  <a:rPr lang="en-US" sz="2800" dirty="0"/>
                  <a:t>     A: Swept area </a:t>
                </a:r>
              </a:p>
              <a:p>
                <a:pPr marL="0" indent="0">
                  <a:buNone/>
                </a:pPr>
                <a:r>
                  <a:rPr lang="en-IN" sz="2800" dirty="0"/>
                  <a:t>     v: Free-stream wind speed</a:t>
                </a:r>
              </a:p>
              <a:p>
                <a:pPr marL="0" indent="0">
                  <a:buNone/>
                </a:pPr>
                <a:r>
                  <a:rPr lang="en-IN" sz="2800" dirty="0"/>
                  <a:t>     Cp​: Power coefficient</a:t>
                </a:r>
                <a:endParaRPr lang="en-IN" dirty="0"/>
              </a:p>
            </p:txBody>
          </p:sp>
        </mc:Choice>
        <mc:Fallback xmlns="">
          <p:sp>
            <p:nvSpPr>
              <p:cNvPr id="3" name="Content Placeholder 2">
                <a:extLst>
                  <a:ext uri="{FF2B5EF4-FFF2-40B4-BE49-F238E27FC236}">
                    <a16:creationId xmlns:a16="http://schemas.microsoft.com/office/drawing/2014/main" id="{66E80D8D-4827-35A3-66EE-3D4ACECA5878}"/>
                  </a:ext>
                </a:extLst>
              </p:cNvPr>
              <p:cNvSpPr>
                <a:spLocks noGrp="1" noRot="1" noChangeAspect="1" noMove="1" noResize="1" noEditPoints="1" noAdjustHandles="1" noChangeArrowheads="1" noChangeShapeType="1" noTextEdit="1"/>
              </p:cNvSpPr>
              <p:nvPr>
                <p:ph idx="1"/>
              </p:nvPr>
            </p:nvSpPr>
            <p:spPr>
              <a:xfrm>
                <a:off x="694362" y="1168079"/>
                <a:ext cx="10515600" cy="4351338"/>
              </a:xfrm>
              <a:blipFill>
                <a:blip r:embed="rId2"/>
                <a:stretch>
                  <a:fillRect l="-1217"/>
                </a:stretch>
              </a:blipFill>
            </p:spPr>
            <p:txBody>
              <a:bodyPr/>
              <a:lstStyle/>
              <a:p>
                <a:r>
                  <a:rPr lang="en-IN">
                    <a:noFill/>
                  </a:rPr>
                  <a:t> </a:t>
                </a:r>
              </a:p>
            </p:txBody>
          </p:sp>
        </mc:Fallback>
      </mc:AlternateContent>
    </p:spTree>
    <p:extLst>
      <p:ext uri="{BB962C8B-B14F-4D97-AF65-F5344CB8AC3E}">
        <p14:creationId xmlns:p14="http://schemas.microsoft.com/office/powerpoint/2010/main" val="20006055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D60BECF-928C-4B0B-4EBE-54728FD73D0E}"/>
                  </a:ext>
                </a:extLst>
              </p:cNvPr>
              <p:cNvSpPr>
                <a:spLocks noGrp="1"/>
              </p:cNvSpPr>
              <p:nvPr>
                <p:ph idx="1"/>
              </p:nvPr>
            </p:nvSpPr>
            <p:spPr>
              <a:xfrm>
                <a:off x="838200" y="421240"/>
                <a:ext cx="10515600" cy="5837916"/>
              </a:xfrm>
            </p:spPr>
            <p:txBody>
              <a:bodyPr/>
              <a:lstStyle/>
              <a:p>
                <a:pPr marL="0" indent="0">
                  <a:buNone/>
                </a:pPr>
                <a:r>
                  <a:rPr lang="en-IN" b="1" dirty="0"/>
                  <a:t>Blade Element Momentum (BEM)</a:t>
                </a:r>
              </a:p>
              <a:p>
                <a:r>
                  <a:rPr lang="en-US" sz="2400" dirty="0"/>
                  <a:t>It divides the rotor blades into small segments and analyzes the forces and energy extraction on each segment.</a:t>
                </a:r>
              </a:p>
              <a:p>
                <a:r>
                  <a:rPr lang="en-US" sz="2400" dirty="0"/>
                  <a:t>Lift and drag forces on each blade segment are calculated using airfoil theory.</a:t>
                </a:r>
              </a:p>
              <a:p>
                <a:r>
                  <a:rPr lang="en-US" sz="2400" dirty="0"/>
                  <a:t>Axial induction factor (a) is solved iteratively using:</a:t>
                </a:r>
              </a:p>
              <a:p>
                <a:pPr marL="0" indent="0">
                  <a:buNone/>
                </a:pPr>
                <a:r>
                  <a:rPr lang="en-US" sz="2400" dirty="0"/>
                  <a:t>                           </a:t>
                </a:r>
                <a14:m>
                  <m:oMath xmlns:m="http://schemas.openxmlformats.org/officeDocument/2006/math">
                    <m:r>
                      <a:rPr lang="en-US" sz="2400" i="1" smtClean="0">
                        <a:latin typeface="Cambria Math" panose="02040503050406030204" pitchFamily="18" charset="0"/>
                      </a:rPr>
                      <m:t>𝑎</m:t>
                    </m:r>
                    <m:r>
                      <a:rPr lang="en-US" sz="2400" i="1" smtClean="0">
                        <a:latin typeface="Cambria Math" panose="02040503050406030204" pitchFamily="18" charset="0"/>
                      </a:rPr>
                      <m:t>=</m:t>
                    </m:r>
                    <m:f>
                      <m:fPr>
                        <m:ctrlPr>
                          <a:rPr lang="en-US" sz="2400" i="1" smtClean="0">
                            <a:solidFill>
                              <a:srgbClr val="836967"/>
                            </a:solidFill>
                            <a:latin typeface="Cambria Math" panose="02040503050406030204" pitchFamily="18" charset="0"/>
                          </a:rPr>
                        </m:ctrlPr>
                      </m:fPr>
                      <m:num>
                        <m:r>
                          <a:rPr lang="en-US" sz="2400" i="1" smtClean="0">
                            <a:latin typeface="Cambria Math" panose="02040503050406030204" pitchFamily="18" charset="0"/>
                          </a:rPr>
                          <m:t>1</m:t>
                        </m:r>
                      </m:num>
                      <m:den>
                        <m:r>
                          <a:rPr lang="en-US" sz="2400" i="1" smtClean="0">
                            <a:latin typeface="Cambria Math" panose="02040503050406030204" pitchFamily="18" charset="0"/>
                          </a:rPr>
                          <m:t>1+</m:t>
                        </m:r>
                        <m:d>
                          <m:dPr>
                            <m:ctrlPr>
                              <a:rPr lang="en-US" sz="2400" i="1" smtClean="0">
                                <a:solidFill>
                                  <a:srgbClr val="836967"/>
                                </a:solidFill>
                                <a:latin typeface="Cambria Math" panose="02040503050406030204" pitchFamily="18" charset="0"/>
                              </a:rPr>
                            </m:ctrlPr>
                          </m:dPr>
                          <m:e>
                            <m:f>
                              <m:fPr>
                                <m:ctrlPr>
                                  <a:rPr lang="en-US" sz="2400" i="1" smtClean="0">
                                    <a:solidFill>
                                      <a:srgbClr val="836967"/>
                                    </a:solidFill>
                                    <a:latin typeface="Cambria Math" panose="02040503050406030204" pitchFamily="18" charset="0"/>
                                  </a:rPr>
                                </m:ctrlPr>
                              </m:fPr>
                              <m:num>
                                <m:r>
                                  <a:rPr lang="en-US" sz="2400" i="1" smtClean="0">
                                    <a:latin typeface="Cambria Math" panose="02040503050406030204" pitchFamily="18" charset="0"/>
                                  </a:rPr>
                                  <m:t>4</m:t>
                                </m:r>
                                <m:func>
                                  <m:funcPr>
                                    <m:ctrlPr>
                                      <a:rPr lang="en-US" sz="2400" i="1" smtClean="0">
                                        <a:latin typeface="Cambria Math" panose="02040503050406030204" pitchFamily="18" charset="0"/>
                                      </a:rPr>
                                    </m:ctrlPr>
                                  </m:funcPr>
                                  <m:fName>
                                    <m:sSup>
                                      <m:sSupPr>
                                        <m:ctrlPr>
                                          <a:rPr lang="en-US" sz="2400" i="1" smtClean="0">
                                            <a:solidFill>
                                              <a:srgbClr val="836967"/>
                                            </a:solidFill>
                                            <a:latin typeface="Cambria Math" panose="02040503050406030204" pitchFamily="18" charset="0"/>
                                          </a:rPr>
                                        </m:ctrlPr>
                                      </m:sSupPr>
                                      <m:e>
                                        <m:r>
                                          <m:rPr>
                                            <m:sty m:val="p"/>
                                          </m:rPr>
                                          <a:rPr lang="en-US" sz="2400" i="1" smtClean="0">
                                            <a:latin typeface="Cambria Math" panose="02040503050406030204" pitchFamily="18" charset="0"/>
                                          </a:rPr>
                                          <m:t>sin</m:t>
                                        </m:r>
                                      </m:e>
                                      <m:sup>
                                        <m:r>
                                          <a:rPr lang="en-US" sz="2400" i="1" smtClean="0">
                                            <a:latin typeface="Cambria Math" panose="02040503050406030204" pitchFamily="18" charset="0"/>
                                          </a:rPr>
                                          <m:t>2</m:t>
                                        </m:r>
                                      </m:sup>
                                    </m:sSup>
                                  </m:fName>
                                  <m:e>
                                    <m:r>
                                      <a:rPr lang="en-US" sz="2400" i="1" smtClean="0">
                                        <a:latin typeface="Cambria Math" panose="02040503050406030204" pitchFamily="18" charset="0"/>
                                      </a:rPr>
                                      <m:t>𝜙</m:t>
                                    </m:r>
                                  </m:e>
                                </m:func>
                              </m:num>
                              <m:den>
                                <m:r>
                                  <a:rPr lang="en-US" sz="2400" i="1" smtClean="0">
                                    <a:latin typeface="Cambria Math" panose="02040503050406030204" pitchFamily="18" charset="0"/>
                                  </a:rPr>
                                  <m:t>𝜎</m:t>
                                </m:r>
                                <m:sSub>
                                  <m:sSubPr>
                                    <m:ctrlPr>
                                      <a:rPr lang="en-US" sz="2400" i="1" smtClean="0">
                                        <a:solidFill>
                                          <a:srgbClr val="836967"/>
                                        </a:solidFill>
                                        <a:latin typeface="Cambria Math" panose="02040503050406030204" pitchFamily="18" charset="0"/>
                                      </a:rPr>
                                    </m:ctrlPr>
                                  </m:sSubPr>
                                  <m:e>
                                    <m:r>
                                      <a:rPr lang="en-US" sz="2400" i="1" smtClean="0">
                                        <a:latin typeface="Cambria Math" panose="02040503050406030204" pitchFamily="18" charset="0"/>
                                      </a:rPr>
                                      <m:t>𝑐</m:t>
                                    </m:r>
                                  </m:e>
                                  <m:sub>
                                    <m:r>
                                      <a:rPr lang="en-US" sz="2400" i="1" smtClean="0">
                                        <a:latin typeface="Cambria Math" panose="02040503050406030204" pitchFamily="18" charset="0"/>
                                      </a:rPr>
                                      <m:t>𝐿</m:t>
                                    </m:r>
                                  </m:sub>
                                </m:sSub>
                                <m:func>
                                  <m:funcPr>
                                    <m:ctrlPr>
                                      <a:rPr lang="en-US" sz="2400" i="1" smtClean="0">
                                        <a:latin typeface="Cambria Math" panose="02040503050406030204" pitchFamily="18" charset="0"/>
                                      </a:rPr>
                                    </m:ctrlPr>
                                  </m:funcPr>
                                  <m:fName>
                                    <m:r>
                                      <m:rPr>
                                        <m:sty m:val="p"/>
                                      </m:rPr>
                                      <a:rPr lang="en-US" sz="2400" i="1" smtClean="0">
                                        <a:latin typeface="Cambria Math" panose="02040503050406030204" pitchFamily="18" charset="0"/>
                                      </a:rPr>
                                      <m:t>cos</m:t>
                                    </m:r>
                                  </m:fName>
                                  <m:e>
                                    <m:r>
                                      <a:rPr lang="en-US" sz="2400" i="1" smtClean="0">
                                        <a:latin typeface="Cambria Math" panose="02040503050406030204" pitchFamily="18" charset="0"/>
                                      </a:rPr>
                                      <m:t>𝜙</m:t>
                                    </m:r>
                                  </m:e>
                                </m:func>
                              </m:den>
                            </m:f>
                          </m:e>
                        </m:d>
                      </m:den>
                    </m:f>
                  </m:oMath>
                </a14:m>
                <a:endParaRPr lang="en-IN" sz="2400" dirty="0"/>
              </a:p>
              <a:p>
                <a:pPr marL="0" indent="0">
                  <a:buNone/>
                </a:pPr>
                <a:endParaRPr lang="en-IN" sz="2400" dirty="0"/>
              </a:p>
              <a:p>
                <a:pPr marL="0" indent="0">
                  <a:buNone/>
                </a:pPr>
                <a:r>
                  <a:rPr lang="en-US" sz="2400" dirty="0"/>
                  <a:t>ϕ: Angle of relative wind</a:t>
                </a:r>
              </a:p>
              <a:p>
                <a:pPr marL="0" indent="0">
                  <a:buNone/>
                </a:pPr>
                <a:r>
                  <a:rPr lang="el-GR" sz="2400" dirty="0"/>
                  <a:t>σ </a:t>
                </a:r>
                <a:r>
                  <a:rPr lang="en-IN" sz="2400" dirty="0"/>
                  <a:t>: </a:t>
                </a:r>
                <a:r>
                  <a:rPr lang="en-US" sz="2400" dirty="0"/>
                  <a:t>ratio of blade area to rotor area</a:t>
                </a:r>
              </a:p>
            </p:txBody>
          </p:sp>
        </mc:Choice>
        <mc:Fallback xmlns="">
          <p:sp>
            <p:nvSpPr>
              <p:cNvPr id="3" name="Content Placeholder 2">
                <a:extLst>
                  <a:ext uri="{FF2B5EF4-FFF2-40B4-BE49-F238E27FC236}">
                    <a16:creationId xmlns:a16="http://schemas.microsoft.com/office/drawing/2014/main" id="{ED60BECF-928C-4B0B-4EBE-54728FD73D0E}"/>
                  </a:ext>
                </a:extLst>
              </p:cNvPr>
              <p:cNvSpPr>
                <a:spLocks noGrp="1" noRot="1" noChangeAspect="1" noMove="1" noResize="1" noEditPoints="1" noAdjustHandles="1" noChangeArrowheads="1" noChangeShapeType="1" noTextEdit="1"/>
              </p:cNvSpPr>
              <p:nvPr>
                <p:ph idx="1"/>
              </p:nvPr>
            </p:nvSpPr>
            <p:spPr>
              <a:xfrm>
                <a:off x="838200" y="421240"/>
                <a:ext cx="10515600" cy="5837916"/>
              </a:xfrm>
              <a:blipFill>
                <a:blip r:embed="rId2"/>
                <a:stretch>
                  <a:fillRect l="-1217" t="-1670" r="-1449"/>
                </a:stretch>
              </a:blipFill>
            </p:spPr>
            <p:txBody>
              <a:bodyPr/>
              <a:lstStyle/>
              <a:p>
                <a:r>
                  <a:rPr lang="en-IN">
                    <a:noFill/>
                  </a:rPr>
                  <a:t> </a:t>
                </a:r>
              </a:p>
            </p:txBody>
          </p:sp>
        </mc:Fallback>
      </mc:AlternateContent>
    </p:spTree>
    <p:extLst>
      <p:ext uri="{BB962C8B-B14F-4D97-AF65-F5344CB8AC3E}">
        <p14:creationId xmlns:p14="http://schemas.microsoft.com/office/powerpoint/2010/main" val="4194269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B300341-4413-B15B-38C7-AC8176BDB6FB}"/>
              </a:ext>
            </a:extLst>
          </p:cNvPr>
          <p:cNvPicPr>
            <a:picLocks noChangeAspect="1"/>
          </p:cNvPicPr>
          <p:nvPr/>
        </p:nvPicPr>
        <p:blipFill>
          <a:blip r:embed="rId2"/>
          <a:stretch>
            <a:fillRect/>
          </a:stretch>
        </p:blipFill>
        <p:spPr>
          <a:xfrm>
            <a:off x="612169" y="605675"/>
            <a:ext cx="7720174" cy="5646650"/>
          </a:xfrm>
          <a:prstGeom prst="rect">
            <a:avLst/>
          </a:prstGeom>
        </p:spPr>
      </p:pic>
    </p:spTree>
    <p:extLst>
      <p:ext uri="{BB962C8B-B14F-4D97-AF65-F5344CB8AC3E}">
        <p14:creationId xmlns:p14="http://schemas.microsoft.com/office/powerpoint/2010/main" val="35353914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DDDF2-854E-49BF-10AC-5C2808E1587C}"/>
              </a:ext>
            </a:extLst>
          </p:cNvPr>
          <p:cNvSpPr>
            <a:spLocks noGrp="1"/>
          </p:cNvSpPr>
          <p:nvPr>
            <p:ph type="title"/>
          </p:nvPr>
        </p:nvSpPr>
        <p:spPr>
          <a:xfrm>
            <a:off x="314218" y="0"/>
            <a:ext cx="10515600" cy="1325563"/>
          </a:xfrm>
        </p:spPr>
        <p:txBody>
          <a:bodyPr/>
          <a:lstStyle/>
          <a:p>
            <a:r>
              <a:rPr lang="en-IN" b="1" dirty="0"/>
              <a:t>Statistical Models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6B7758F-7A67-6F9E-9206-6C941526EB3A}"/>
                  </a:ext>
                </a:extLst>
              </p:cNvPr>
              <p:cNvSpPr>
                <a:spLocks noGrp="1"/>
              </p:cNvSpPr>
              <p:nvPr>
                <p:ph idx="1"/>
              </p:nvPr>
            </p:nvSpPr>
            <p:spPr>
              <a:xfrm>
                <a:off x="685800" y="1405731"/>
                <a:ext cx="10515600" cy="4351338"/>
              </a:xfrm>
            </p:spPr>
            <p:txBody>
              <a:bodyPr>
                <a:normAutofit fontScale="85000" lnSpcReduction="20000"/>
              </a:bodyPr>
              <a:lstStyle/>
              <a:p>
                <a:pPr marL="0" indent="0">
                  <a:buNone/>
                </a:pPr>
                <a:r>
                  <a:rPr lang="en-IN" b="1" dirty="0"/>
                  <a:t>Auto-Regressive (AR) Model</a:t>
                </a:r>
              </a:p>
              <a:p>
                <a:r>
                  <a:rPr lang="en-US" sz="2400" dirty="0"/>
                  <a:t>The current value of wind speed or power depends on its previous values.</a:t>
                </a:r>
              </a:p>
              <a:p>
                <a:endParaRPr lang="en-US" sz="2400" dirty="0"/>
              </a:p>
              <a:p>
                <a:pPr marL="0" indent="0">
                  <a:buNone/>
                </a:pPr>
                <a:r>
                  <a:rPr lang="en-US" sz="2400" dirty="0">
                    <a:solidFill>
                      <a:srgbClr val="836967"/>
                    </a:solidFill>
                  </a:rPr>
                  <a:t>                  </a:t>
                </a:r>
                <a14:m>
                  <m:oMath xmlns:m="http://schemas.openxmlformats.org/officeDocument/2006/math">
                    <m:sSub>
                      <m:sSubPr>
                        <m:ctrlPr>
                          <a:rPr lang="en-US" sz="2400" i="1" smtClean="0">
                            <a:solidFill>
                              <a:srgbClr val="836967"/>
                            </a:solidFill>
                            <a:latin typeface="Cambria Math" panose="02040503050406030204" pitchFamily="18" charset="0"/>
                          </a:rPr>
                        </m:ctrlPr>
                      </m:sSubPr>
                      <m:e>
                        <m:r>
                          <a:rPr lang="en-US" sz="2400" i="1" smtClean="0">
                            <a:latin typeface="Cambria Math" panose="02040503050406030204" pitchFamily="18" charset="0"/>
                          </a:rPr>
                          <m:t>𝑥</m:t>
                        </m:r>
                      </m:e>
                      <m:sub>
                        <m:r>
                          <a:rPr lang="en-US" sz="2400" i="1" smtClean="0">
                            <a:latin typeface="Cambria Math" panose="02040503050406030204" pitchFamily="18" charset="0"/>
                          </a:rPr>
                          <m:t>𝑡</m:t>
                        </m:r>
                      </m:sub>
                    </m:sSub>
                    <m:r>
                      <a:rPr lang="en-US" sz="2400" i="1" smtClean="0">
                        <a:latin typeface="Cambria Math" panose="02040503050406030204" pitchFamily="18" charset="0"/>
                      </a:rPr>
                      <m:t>=</m:t>
                    </m:r>
                    <m:r>
                      <a:rPr lang="en-US" sz="2400" i="1" smtClean="0">
                        <a:latin typeface="Cambria Math" panose="02040503050406030204" pitchFamily="18" charset="0"/>
                      </a:rPr>
                      <m:t>𝐶</m:t>
                    </m:r>
                    <m:r>
                      <a:rPr lang="en-US" sz="2400" i="1" smtClean="0">
                        <a:latin typeface="Cambria Math" panose="02040503050406030204" pitchFamily="18" charset="0"/>
                      </a:rPr>
                      <m:t>+</m:t>
                    </m:r>
                    <m:sSub>
                      <m:sSubPr>
                        <m:ctrlPr>
                          <a:rPr lang="en-US" sz="2400" i="1" smtClean="0">
                            <a:solidFill>
                              <a:srgbClr val="836967"/>
                            </a:solidFill>
                            <a:latin typeface="Cambria Math" panose="02040503050406030204" pitchFamily="18" charset="0"/>
                          </a:rPr>
                        </m:ctrlPr>
                      </m:sSubPr>
                      <m:e>
                        <m:r>
                          <a:rPr lang="en-US" sz="2400" i="1" smtClean="0">
                            <a:latin typeface="Cambria Math" panose="02040503050406030204" pitchFamily="18" charset="0"/>
                          </a:rPr>
                          <m:t>𝜙</m:t>
                        </m:r>
                      </m:e>
                      <m:sub>
                        <m:r>
                          <a:rPr lang="en-US" sz="2400" i="1" smtClean="0">
                            <a:latin typeface="Cambria Math" panose="02040503050406030204" pitchFamily="18" charset="0"/>
                          </a:rPr>
                          <m:t>1</m:t>
                        </m:r>
                      </m:sub>
                    </m:sSub>
                    <m:sSub>
                      <m:sSubPr>
                        <m:ctrlPr>
                          <a:rPr lang="en-US" sz="2400" i="1" smtClean="0">
                            <a:solidFill>
                              <a:srgbClr val="836967"/>
                            </a:solidFill>
                            <a:latin typeface="Cambria Math" panose="02040503050406030204" pitchFamily="18" charset="0"/>
                          </a:rPr>
                        </m:ctrlPr>
                      </m:sSubPr>
                      <m:e>
                        <m:r>
                          <a:rPr lang="en-US" sz="2400" i="1" smtClean="0">
                            <a:latin typeface="Cambria Math" panose="02040503050406030204" pitchFamily="18" charset="0"/>
                          </a:rPr>
                          <m:t>𝑥</m:t>
                        </m:r>
                      </m:e>
                      <m:sub>
                        <m:r>
                          <a:rPr lang="en-US" sz="2400" i="1" smtClean="0">
                            <a:latin typeface="Cambria Math" panose="02040503050406030204" pitchFamily="18" charset="0"/>
                          </a:rPr>
                          <m:t>𝑡</m:t>
                        </m:r>
                        <m:r>
                          <a:rPr lang="en-US" sz="2400" i="1" smtClean="0">
                            <a:latin typeface="Cambria Math" panose="02040503050406030204" pitchFamily="18" charset="0"/>
                          </a:rPr>
                          <m:t>−1</m:t>
                        </m:r>
                      </m:sub>
                    </m:sSub>
                    <m:r>
                      <a:rPr lang="en-IN" sz="2400" b="0" i="0" smtClean="0">
                        <a:latin typeface="Cambria Math" panose="02040503050406030204" pitchFamily="18" charset="0"/>
                      </a:rPr>
                      <m:t>+</m:t>
                    </m:r>
                    <m:sSub>
                      <m:sSubPr>
                        <m:ctrlPr>
                          <a:rPr lang="en-US" sz="2400" i="1" smtClean="0">
                            <a:solidFill>
                              <a:srgbClr val="836967"/>
                            </a:solidFill>
                            <a:latin typeface="Cambria Math" panose="02040503050406030204" pitchFamily="18" charset="0"/>
                          </a:rPr>
                        </m:ctrlPr>
                      </m:sSubPr>
                      <m:e>
                        <m:r>
                          <a:rPr lang="en-US" sz="2400" i="1" smtClean="0">
                            <a:latin typeface="Cambria Math" panose="02040503050406030204" pitchFamily="18" charset="0"/>
                          </a:rPr>
                          <m:t>𝜙</m:t>
                        </m:r>
                      </m:e>
                      <m:sub>
                        <m:r>
                          <a:rPr lang="en-IN" sz="2400" b="0" i="1" smtClean="0">
                            <a:latin typeface="Cambria Math" panose="02040503050406030204" pitchFamily="18" charset="0"/>
                          </a:rPr>
                          <m:t>2</m:t>
                        </m:r>
                      </m:sub>
                    </m:sSub>
                    <m:sSub>
                      <m:sSubPr>
                        <m:ctrlPr>
                          <a:rPr lang="en-US" sz="2400" i="1" smtClean="0">
                            <a:solidFill>
                              <a:srgbClr val="836967"/>
                            </a:solidFill>
                            <a:latin typeface="Cambria Math" panose="02040503050406030204" pitchFamily="18" charset="0"/>
                          </a:rPr>
                        </m:ctrlPr>
                      </m:sSubPr>
                      <m:e>
                        <m:r>
                          <a:rPr lang="en-US" sz="2400" i="1" smtClean="0">
                            <a:latin typeface="Cambria Math" panose="02040503050406030204" pitchFamily="18" charset="0"/>
                          </a:rPr>
                          <m:t>𝑥</m:t>
                        </m:r>
                      </m:e>
                      <m:sub>
                        <m:r>
                          <a:rPr lang="en-US" sz="2400" i="1" smtClean="0">
                            <a:latin typeface="Cambria Math" panose="02040503050406030204" pitchFamily="18" charset="0"/>
                          </a:rPr>
                          <m:t>𝑡</m:t>
                        </m:r>
                        <m:r>
                          <a:rPr lang="en-US" sz="2400" i="1" smtClean="0">
                            <a:latin typeface="Cambria Math" panose="02040503050406030204" pitchFamily="18" charset="0"/>
                          </a:rPr>
                          <m:t>−2</m:t>
                        </m:r>
                      </m:sub>
                    </m:sSub>
                  </m:oMath>
                </a14:m>
                <a:r>
                  <a:rPr lang="en-US" sz="2400" dirty="0"/>
                  <a:t>+</a:t>
                </a:r>
                <a:r>
                  <a:rPr lang="en-US" sz="2400" dirty="0">
                    <a:solidFill>
                      <a:srgbClr val="836967"/>
                    </a:solidFill>
                  </a:rPr>
                  <a:t> </a:t>
                </a:r>
                <a14:m>
                  <m:oMath xmlns:m="http://schemas.openxmlformats.org/officeDocument/2006/math">
                    <m:sSub>
                      <m:sSubPr>
                        <m:ctrlPr>
                          <a:rPr lang="en-US" sz="2400" i="1" smtClean="0">
                            <a:solidFill>
                              <a:srgbClr val="836967"/>
                            </a:solidFill>
                            <a:latin typeface="Cambria Math" panose="02040503050406030204" pitchFamily="18" charset="0"/>
                          </a:rPr>
                        </m:ctrlPr>
                      </m:sSubPr>
                      <m:e>
                        <m:r>
                          <a:rPr lang="en-US" sz="2400" i="1" smtClean="0">
                            <a:latin typeface="Cambria Math" panose="02040503050406030204" pitchFamily="18" charset="0"/>
                          </a:rPr>
                          <m:t>𝜙</m:t>
                        </m:r>
                      </m:e>
                      <m:sub>
                        <m:r>
                          <a:rPr lang="en-IN" sz="2400" b="0" i="1" smtClean="0">
                            <a:latin typeface="Cambria Math" panose="02040503050406030204" pitchFamily="18" charset="0"/>
                          </a:rPr>
                          <m:t>3</m:t>
                        </m:r>
                      </m:sub>
                    </m:sSub>
                    <m:sSub>
                      <m:sSubPr>
                        <m:ctrlPr>
                          <a:rPr lang="en-US" sz="2400" i="1" smtClean="0">
                            <a:solidFill>
                              <a:srgbClr val="836967"/>
                            </a:solidFill>
                            <a:latin typeface="Cambria Math" panose="02040503050406030204" pitchFamily="18" charset="0"/>
                          </a:rPr>
                        </m:ctrlPr>
                      </m:sSubPr>
                      <m:e>
                        <m:r>
                          <a:rPr lang="en-US" sz="2400" i="1" smtClean="0">
                            <a:latin typeface="Cambria Math" panose="02040503050406030204" pitchFamily="18" charset="0"/>
                          </a:rPr>
                          <m:t>𝑥</m:t>
                        </m:r>
                      </m:e>
                      <m:sub>
                        <m:r>
                          <a:rPr lang="en-US" sz="2400" i="1" smtClean="0">
                            <a:latin typeface="Cambria Math" panose="02040503050406030204" pitchFamily="18" charset="0"/>
                          </a:rPr>
                          <m:t>𝑡</m:t>
                        </m:r>
                        <m:r>
                          <a:rPr lang="en-US" sz="2400" i="1" smtClean="0">
                            <a:latin typeface="Cambria Math" panose="02040503050406030204" pitchFamily="18" charset="0"/>
                          </a:rPr>
                          <m:t>−3</m:t>
                        </m:r>
                      </m:sub>
                    </m:sSub>
                  </m:oMath>
                </a14:m>
                <a:r>
                  <a:rPr lang="en-US" sz="2400" dirty="0"/>
                  <a:t>+……….+</a:t>
                </a:r>
                <a:r>
                  <a:rPr lang="en-US" sz="2400" dirty="0">
                    <a:solidFill>
                      <a:srgbClr val="836967"/>
                    </a:solidFill>
                  </a:rPr>
                  <a:t> </a:t>
                </a:r>
                <a14:m>
                  <m:oMath xmlns:m="http://schemas.openxmlformats.org/officeDocument/2006/math">
                    <m:sSub>
                      <m:sSubPr>
                        <m:ctrlPr>
                          <a:rPr lang="en-US" sz="2400" i="1" smtClean="0">
                            <a:solidFill>
                              <a:srgbClr val="836967"/>
                            </a:solidFill>
                            <a:latin typeface="Cambria Math" panose="02040503050406030204" pitchFamily="18" charset="0"/>
                          </a:rPr>
                        </m:ctrlPr>
                      </m:sSubPr>
                      <m:e>
                        <m:r>
                          <a:rPr lang="en-US" sz="2400" i="1" smtClean="0">
                            <a:latin typeface="Cambria Math" panose="02040503050406030204" pitchFamily="18" charset="0"/>
                          </a:rPr>
                          <m:t>𝜙</m:t>
                        </m:r>
                      </m:e>
                      <m:sub>
                        <m:r>
                          <a:rPr lang="en-IN" sz="2400" b="0" i="1" smtClean="0">
                            <a:latin typeface="Cambria Math" panose="02040503050406030204" pitchFamily="18" charset="0"/>
                          </a:rPr>
                          <m:t>𝑝</m:t>
                        </m:r>
                      </m:sub>
                    </m:sSub>
                    <m:sSub>
                      <m:sSubPr>
                        <m:ctrlPr>
                          <a:rPr lang="en-US" sz="2400" i="1" smtClean="0">
                            <a:solidFill>
                              <a:srgbClr val="836967"/>
                            </a:solidFill>
                            <a:latin typeface="Cambria Math" panose="02040503050406030204" pitchFamily="18" charset="0"/>
                          </a:rPr>
                        </m:ctrlPr>
                      </m:sSubPr>
                      <m:e>
                        <m:r>
                          <a:rPr lang="en-US" sz="2400" i="1" smtClean="0">
                            <a:latin typeface="Cambria Math" panose="02040503050406030204" pitchFamily="18" charset="0"/>
                          </a:rPr>
                          <m:t>𝑥</m:t>
                        </m:r>
                      </m:e>
                      <m:sub>
                        <m:r>
                          <a:rPr lang="en-US" sz="2400" i="1" smtClean="0">
                            <a:latin typeface="Cambria Math" panose="02040503050406030204" pitchFamily="18" charset="0"/>
                          </a:rPr>
                          <m:t>𝑡</m:t>
                        </m:r>
                        <m:r>
                          <a:rPr lang="en-US" sz="2400" i="1" smtClean="0">
                            <a:latin typeface="Cambria Math" panose="02040503050406030204" pitchFamily="18" charset="0"/>
                          </a:rPr>
                          <m:t>−</m:t>
                        </m:r>
                        <m:r>
                          <a:rPr lang="en-IN" sz="2400" b="0" i="1" smtClean="0">
                            <a:latin typeface="Cambria Math" panose="02040503050406030204" pitchFamily="18" charset="0"/>
                          </a:rPr>
                          <m:t>𝑝</m:t>
                        </m:r>
                        <m:r>
                          <a:rPr lang="en-IN" sz="2400" b="0" i="1" smtClean="0">
                            <a:latin typeface="Cambria Math" panose="02040503050406030204" pitchFamily="18" charset="0"/>
                          </a:rPr>
                          <m:t> </m:t>
                        </m:r>
                      </m:sub>
                    </m:sSub>
                    <m:r>
                      <a:rPr lang="en-IN" sz="2400" b="0" i="1" smtClean="0">
                        <a:latin typeface="Cambria Math" panose="02040503050406030204" pitchFamily="18" charset="0"/>
                      </a:rPr>
                      <m:t>+</m:t>
                    </m:r>
                    <m:r>
                      <a:rPr lang="en-IN" sz="2400" b="0" i="1" smtClean="0">
                        <a:latin typeface="Cambria Math" panose="02040503050406030204" pitchFamily="18" charset="0"/>
                      </a:rPr>
                      <m:t>𝑒</m:t>
                    </m:r>
                  </m:oMath>
                </a14:m>
                <a:endParaRPr lang="en-US" sz="2400" dirty="0"/>
              </a:p>
              <a:p>
                <a:endParaRPr lang="en-US" sz="2400" dirty="0"/>
              </a:p>
              <a:p>
                <a:r>
                  <a:rPr lang="en-US" sz="2400" dirty="0"/>
                  <a:t>Where,</a:t>
                </a:r>
              </a:p>
              <a:p>
                <a:pPr marL="0" indent="0">
                  <a:buNone/>
                </a:pPr>
                <a:r>
                  <a:rPr lang="en-IN" sz="2400" dirty="0"/>
                  <a:t>   </a:t>
                </a:r>
                <a:r>
                  <a:rPr lang="en-IN" sz="2400" dirty="0" err="1"/>
                  <a:t>Xt</a:t>
                </a:r>
                <a:r>
                  <a:rPr lang="en-IN" sz="2400" dirty="0"/>
                  <a:t>​: Current value.</a:t>
                </a:r>
                <a:endParaRPr lang="en-US" sz="2400" dirty="0"/>
              </a:p>
              <a:p>
                <a:pPr marL="0" indent="0">
                  <a:buNone/>
                </a:pPr>
                <a:r>
                  <a:rPr lang="en-US" sz="2400" dirty="0"/>
                  <a:t>   </a:t>
                </a:r>
                <a:r>
                  <a:rPr lang="en-IN" sz="2400" dirty="0"/>
                  <a:t>c: Constant term.</a:t>
                </a:r>
                <a:endParaRPr lang="en-US" sz="2400" dirty="0"/>
              </a:p>
              <a:p>
                <a:pPr marL="0" indent="0">
                  <a:buNone/>
                </a:pPr>
                <a:r>
                  <a:rPr lang="en-US" sz="2400" dirty="0"/>
                  <a:t>   </a:t>
                </a:r>
                <a:r>
                  <a:rPr lang="en-US" sz="2400" dirty="0" err="1"/>
                  <a:t>ϕi</a:t>
                </a:r>
                <a:r>
                  <a:rPr lang="en-US" sz="2400" dirty="0"/>
                  <a:t>​: Coefficients of past values (lags).</a:t>
                </a:r>
              </a:p>
              <a:p>
                <a:pPr marL="0" indent="0">
                  <a:buNone/>
                </a:pPr>
                <a:r>
                  <a:rPr lang="en-IN" sz="2400" dirty="0"/>
                  <a:t>   e ​: Error term.</a:t>
                </a:r>
              </a:p>
              <a:p>
                <a:pPr marL="0" indent="0">
                  <a:buNone/>
                </a:pPr>
                <a:endParaRPr lang="en-IN" sz="2400" dirty="0"/>
              </a:p>
              <a:p>
                <a:r>
                  <a:rPr lang="en-US" sz="2600" b="1" dirty="0"/>
                  <a:t>Use Case:</a:t>
                </a:r>
                <a:r>
                  <a:rPr lang="en-US" sz="2600" dirty="0"/>
                  <a:t> Predict stationary wind patterns.</a:t>
                </a:r>
              </a:p>
            </p:txBody>
          </p:sp>
        </mc:Choice>
        <mc:Fallback xmlns="">
          <p:sp>
            <p:nvSpPr>
              <p:cNvPr id="3" name="Content Placeholder 2">
                <a:extLst>
                  <a:ext uri="{FF2B5EF4-FFF2-40B4-BE49-F238E27FC236}">
                    <a16:creationId xmlns:a16="http://schemas.microsoft.com/office/drawing/2014/main" id="{06B7758F-7A67-6F9E-9206-6C941526EB3A}"/>
                  </a:ext>
                </a:extLst>
              </p:cNvPr>
              <p:cNvSpPr>
                <a:spLocks noGrp="1" noRot="1" noChangeAspect="1" noMove="1" noResize="1" noEditPoints="1" noAdjustHandles="1" noChangeArrowheads="1" noChangeShapeType="1" noTextEdit="1"/>
              </p:cNvSpPr>
              <p:nvPr>
                <p:ph idx="1"/>
              </p:nvPr>
            </p:nvSpPr>
            <p:spPr>
              <a:xfrm>
                <a:off x="685800" y="1405731"/>
                <a:ext cx="10515600" cy="4351338"/>
              </a:xfrm>
              <a:blipFill>
                <a:blip r:embed="rId2"/>
                <a:stretch>
                  <a:fillRect l="-928" t="-3226"/>
                </a:stretch>
              </a:blipFill>
            </p:spPr>
            <p:txBody>
              <a:bodyPr/>
              <a:lstStyle/>
              <a:p>
                <a:r>
                  <a:rPr lang="en-IN">
                    <a:noFill/>
                  </a:rPr>
                  <a:t> </a:t>
                </a:r>
              </a:p>
            </p:txBody>
          </p:sp>
        </mc:Fallback>
      </mc:AlternateContent>
      <p:sp>
        <p:nvSpPr>
          <p:cNvPr id="4" name="AutoShape 2" descr="{\displaystyle X_{t}=\sum _{i=1}^{p}\varphi _{i}X_{t-i}+\varepsilon _{t}}">
            <a:extLst>
              <a:ext uri="{FF2B5EF4-FFF2-40B4-BE49-F238E27FC236}">
                <a16:creationId xmlns:a16="http://schemas.microsoft.com/office/drawing/2014/main" id="{7D638D5F-9E9E-003F-2BB7-BBACADEA788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4" descr="{\displaystyle X_{t}=\sum _{i=1}^{p}\varphi _{i}X_{t-i}+\varepsilon _{t}}">
            <a:extLst>
              <a:ext uri="{FF2B5EF4-FFF2-40B4-BE49-F238E27FC236}">
                <a16:creationId xmlns:a16="http://schemas.microsoft.com/office/drawing/2014/main" id="{89A532C0-BC69-E4D6-5913-ACD4421463BF}"/>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5425352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D76787-3376-17D7-80EF-6B1957F2BB7A}"/>
                  </a:ext>
                </a:extLst>
              </p:cNvPr>
              <p:cNvSpPr>
                <a:spLocks noGrp="1"/>
              </p:cNvSpPr>
              <p:nvPr>
                <p:ph idx="1"/>
              </p:nvPr>
            </p:nvSpPr>
            <p:spPr>
              <a:xfrm>
                <a:off x="838200" y="613274"/>
                <a:ext cx="10515600" cy="5664236"/>
              </a:xfrm>
            </p:spPr>
            <p:txBody>
              <a:bodyPr>
                <a:normAutofit/>
              </a:bodyPr>
              <a:lstStyle/>
              <a:p>
                <a:pPr marL="0" indent="0">
                  <a:buNone/>
                </a:pPr>
                <a:r>
                  <a:rPr lang="en-IN" b="1" dirty="0"/>
                  <a:t>Moving Average (MA) Model</a:t>
                </a:r>
              </a:p>
              <a:p>
                <a:r>
                  <a:rPr lang="en-US" sz="2800" dirty="0"/>
                  <a:t>The current value </a:t>
                </a:r>
                <a:r>
                  <a:rPr lang="en-US" dirty="0"/>
                  <a:t>is influenced by past error terms (random fluctuations).</a:t>
                </a:r>
                <a:endParaRPr lang="en-US" sz="2800" dirty="0"/>
              </a:p>
              <a:p>
                <a:pPr marL="0" indent="0">
                  <a:buNone/>
                </a:pPr>
                <a:r>
                  <a:rPr lang="en-US" sz="2800" dirty="0">
                    <a:solidFill>
                      <a:srgbClr val="836967"/>
                    </a:solidFill>
                  </a:rPr>
                  <a:t>        </a:t>
                </a:r>
                <a14:m>
                  <m:oMath xmlns:m="http://schemas.openxmlformats.org/officeDocument/2006/math">
                    <m:sSub>
                      <m:sSubPr>
                        <m:ctrlPr>
                          <a:rPr lang="en-US" sz="2800" i="1" smtClean="0">
                            <a:solidFill>
                              <a:srgbClr val="836967"/>
                            </a:solidFill>
                            <a:latin typeface="Cambria Math" panose="02040503050406030204" pitchFamily="18" charset="0"/>
                          </a:rPr>
                        </m:ctrlPr>
                      </m:sSubPr>
                      <m:e>
                        <m:r>
                          <a:rPr lang="en-US" sz="2800" i="1" smtClean="0">
                            <a:latin typeface="Cambria Math" panose="02040503050406030204" pitchFamily="18" charset="0"/>
                          </a:rPr>
                          <m:t>𝑥</m:t>
                        </m:r>
                      </m:e>
                      <m:sub>
                        <m:r>
                          <a:rPr lang="en-US" sz="2800" i="1" smtClean="0">
                            <a:latin typeface="Cambria Math" panose="02040503050406030204" pitchFamily="18" charset="0"/>
                          </a:rPr>
                          <m:t>𝑡</m:t>
                        </m:r>
                      </m:sub>
                    </m:sSub>
                    <m:r>
                      <a:rPr lang="en-US" sz="2800" i="1" smtClean="0">
                        <a:latin typeface="Cambria Math" panose="02040503050406030204" pitchFamily="18" charset="0"/>
                      </a:rPr>
                      <m:t>=</m:t>
                    </m:r>
                    <m:r>
                      <a:rPr lang="en-US" sz="2800" i="1" smtClean="0">
                        <a:latin typeface="Cambria Math" panose="02040503050406030204" pitchFamily="18" charset="0"/>
                      </a:rPr>
                      <m:t>𝐶</m:t>
                    </m:r>
                    <m:r>
                      <a:rPr lang="en-US" sz="2800" i="1" smtClean="0">
                        <a:latin typeface="Cambria Math" panose="02040503050406030204" pitchFamily="18" charset="0"/>
                      </a:rPr>
                      <m:t>+</m:t>
                    </m:r>
                    <m:sSub>
                      <m:sSubPr>
                        <m:ctrlPr>
                          <a:rPr lang="en-US" sz="2800" i="1" smtClean="0">
                            <a:solidFill>
                              <a:srgbClr val="836967"/>
                            </a:solidFill>
                            <a:latin typeface="Cambria Math" panose="02040503050406030204" pitchFamily="18" charset="0"/>
                          </a:rPr>
                        </m:ctrlPr>
                      </m:sSubPr>
                      <m:e>
                        <m:r>
                          <m:rPr>
                            <m:nor/>
                          </m:rPr>
                          <a:rPr lang="el-GR" smtClean="0"/>
                          <m:t>θ</m:t>
                        </m:r>
                      </m:e>
                      <m:sub>
                        <m:r>
                          <a:rPr lang="en-US" sz="2800" i="1" smtClean="0">
                            <a:latin typeface="Cambria Math" panose="02040503050406030204" pitchFamily="18" charset="0"/>
                          </a:rPr>
                          <m:t>1</m:t>
                        </m:r>
                      </m:sub>
                    </m:sSub>
                    <m:sSub>
                      <m:sSubPr>
                        <m:ctrlPr>
                          <a:rPr lang="en-US" sz="2800" i="1" smtClean="0">
                            <a:solidFill>
                              <a:srgbClr val="836967"/>
                            </a:solidFill>
                            <a:latin typeface="Cambria Math" panose="02040503050406030204" pitchFamily="18" charset="0"/>
                          </a:rPr>
                        </m:ctrlPr>
                      </m:sSubPr>
                      <m:e>
                        <m:r>
                          <a:rPr lang="en-IN" sz="2800" b="0" i="1" smtClean="0">
                            <a:solidFill>
                              <a:srgbClr val="836967"/>
                            </a:solidFill>
                            <a:latin typeface="Cambria Math" panose="02040503050406030204" pitchFamily="18" charset="0"/>
                          </a:rPr>
                          <m:t>𝑒</m:t>
                        </m:r>
                      </m:e>
                      <m:sub>
                        <m:r>
                          <a:rPr lang="en-US" sz="2800" i="1" smtClean="0">
                            <a:latin typeface="Cambria Math" panose="02040503050406030204" pitchFamily="18" charset="0"/>
                          </a:rPr>
                          <m:t>𝑡</m:t>
                        </m:r>
                        <m:r>
                          <a:rPr lang="en-US" sz="2800" i="1" smtClean="0">
                            <a:latin typeface="Cambria Math" panose="02040503050406030204" pitchFamily="18" charset="0"/>
                          </a:rPr>
                          <m:t>−1</m:t>
                        </m:r>
                      </m:sub>
                    </m:sSub>
                    <m:r>
                      <a:rPr lang="en-IN" sz="2800" b="0" i="0" smtClean="0">
                        <a:latin typeface="Cambria Math" panose="02040503050406030204" pitchFamily="18" charset="0"/>
                      </a:rPr>
                      <m:t>+</m:t>
                    </m:r>
                    <m:sSub>
                      <m:sSubPr>
                        <m:ctrlPr>
                          <a:rPr lang="en-US" sz="2800" i="1" smtClean="0">
                            <a:solidFill>
                              <a:srgbClr val="836967"/>
                            </a:solidFill>
                            <a:latin typeface="Cambria Math" panose="02040503050406030204" pitchFamily="18" charset="0"/>
                          </a:rPr>
                        </m:ctrlPr>
                      </m:sSubPr>
                      <m:e>
                        <m:r>
                          <m:rPr>
                            <m:nor/>
                          </m:rPr>
                          <a:rPr lang="el-GR" smtClean="0"/>
                          <m:t>θ</m:t>
                        </m:r>
                      </m:e>
                      <m:sub>
                        <m:r>
                          <a:rPr lang="en-IN" sz="2800" b="0" i="1" smtClean="0">
                            <a:latin typeface="Cambria Math" panose="02040503050406030204" pitchFamily="18" charset="0"/>
                          </a:rPr>
                          <m:t>2</m:t>
                        </m:r>
                      </m:sub>
                    </m:sSub>
                    <m:sSub>
                      <m:sSubPr>
                        <m:ctrlPr>
                          <a:rPr lang="en-US" sz="2800" i="1" smtClean="0">
                            <a:solidFill>
                              <a:srgbClr val="836967"/>
                            </a:solidFill>
                            <a:latin typeface="Cambria Math" panose="02040503050406030204" pitchFamily="18" charset="0"/>
                          </a:rPr>
                        </m:ctrlPr>
                      </m:sSubPr>
                      <m:e>
                        <m:r>
                          <a:rPr lang="en-IN" sz="2800" b="0" i="1" smtClean="0">
                            <a:solidFill>
                              <a:srgbClr val="836967"/>
                            </a:solidFill>
                            <a:latin typeface="Cambria Math" panose="02040503050406030204" pitchFamily="18" charset="0"/>
                          </a:rPr>
                          <m:t>𝑒</m:t>
                        </m:r>
                      </m:e>
                      <m:sub>
                        <m:r>
                          <a:rPr lang="en-US" sz="2800" i="1" smtClean="0">
                            <a:latin typeface="Cambria Math" panose="02040503050406030204" pitchFamily="18" charset="0"/>
                          </a:rPr>
                          <m:t>𝑡</m:t>
                        </m:r>
                        <m:r>
                          <a:rPr lang="en-US" sz="2800" i="1" smtClean="0">
                            <a:latin typeface="Cambria Math" panose="02040503050406030204" pitchFamily="18" charset="0"/>
                          </a:rPr>
                          <m:t>−2</m:t>
                        </m:r>
                      </m:sub>
                    </m:sSub>
                  </m:oMath>
                </a14:m>
                <a:r>
                  <a:rPr lang="en-US" sz="2800" dirty="0"/>
                  <a:t>+</a:t>
                </a:r>
                <a:r>
                  <a:rPr lang="en-US" sz="2800" dirty="0">
                    <a:solidFill>
                      <a:srgbClr val="836967"/>
                    </a:solidFill>
                  </a:rPr>
                  <a:t> </a:t>
                </a:r>
                <a14:m>
                  <m:oMath xmlns:m="http://schemas.openxmlformats.org/officeDocument/2006/math">
                    <m:sSub>
                      <m:sSubPr>
                        <m:ctrlPr>
                          <a:rPr lang="en-US" sz="2800" i="1" smtClean="0">
                            <a:solidFill>
                              <a:srgbClr val="836967"/>
                            </a:solidFill>
                            <a:latin typeface="Cambria Math" panose="02040503050406030204" pitchFamily="18" charset="0"/>
                          </a:rPr>
                        </m:ctrlPr>
                      </m:sSubPr>
                      <m:e>
                        <m:r>
                          <m:rPr>
                            <m:nor/>
                          </m:rPr>
                          <a:rPr lang="el-GR" smtClean="0"/>
                          <m:t>θ</m:t>
                        </m:r>
                      </m:e>
                      <m:sub>
                        <m:r>
                          <a:rPr lang="en-IN" sz="2800" b="0" i="1" smtClean="0">
                            <a:latin typeface="Cambria Math" panose="02040503050406030204" pitchFamily="18" charset="0"/>
                          </a:rPr>
                          <m:t>3</m:t>
                        </m:r>
                      </m:sub>
                    </m:sSub>
                    <m:sSub>
                      <m:sSubPr>
                        <m:ctrlPr>
                          <a:rPr lang="en-US" sz="2800" i="1" smtClean="0">
                            <a:solidFill>
                              <a:srgbClr val="836967"/>
                            </a:solidFill>
                            <a:latin typeface="Cambria Math" panose="02040503050406030204" pitchFamily="18" charset="0"/>
                          </a:rPr>
                        </m:ctrlPr>
                      </m:sSubPr>
                      <m:e>
                        <m:r>
                          <a:rPr lang="en-IN" sz="2800" b="0" i="1" smtClean="0">
                            <a:solidFill>
                              <a:srgbClr val="836967"/>
                            </a:solidFill>
                            <a:latin typeface="Cambria Math" panose="02040503050406030204" pitchFamily="18" charset="0"/>
                          </a:rPr>
                          <m:t>𝑒</m:t>
                        </m:r>
                      </m:e>
                      <m:sub>
                        <m:r>
                          <a:rPr lang="en-US" sz="2800" i="1" smtClean="0">
                            <a:latin typeface="Cambria Math" panose="02040503050406030204" pitchFamily="18" charset="0"/>
                          </a:rPr>
                          <m:t>𝑡</m:t>
                        </m:r>
                        <m:r>
                          <a:rPr lang="en-US" sz="2800" i="1" smtClean="0">
                            <a:latin typeface="Cambria Math" panose="02040503050406030204" pitchFamily="18" charset="0"/>
                          </a:rPr>
                          <m:t>−3</m:t>
                        </m:r>
                      </m:sub>
                    </m:sSub>
                  </m:oMath>
                </a14:m>
                <a:r>
                  <a:rPr lang="en-US" sz="2800" dirty="0"/>
                  <a:t>+……….+</a:t>
                </a:r>
                <a:r>
                  <a:rPr lang="en-US" sz="2800" dirty="0">
                    <a:solidFill>
                      <a:srgbClr val="836967"/>
                    </a:solidFill>
                  </a:rPr>
                  <a:t> </a:t>
                </a:r>
                <a14:m>
                  <m:oMath xmlns:m="http://schemas.openxmlformats.org/officeDocument/2006/math">
                    <m:sSub>
                      <m:sSubPr>
                        <m:ctrlPr>
                          <a:rPr lang="en-US" sz="2800" i="1" smtClean="0">
                            <a:solidFill>
                              <a:srgbClr val="836967"/>
                            </a:solidFill>
                            <a:latin typeface="Cambria Math" panose="02040503050406030204" pitchFamily="18" charset="0"/>
                          </a:rPr>
                        </m:ctrlPr>
                      </m:sSubPr>
                      <m:e>
                        <m:r>
                          <m:rPr>
                            <m:nor/>
                          </m:rPr>
                          <a:rPr lang="el-GR" smtClean="0"/>
                          <m:t>θ</m:t>
                        </m:r>
                      </m:e>
                      <m:sub>
                        <m:r>
                          <a:rPr lang="en-IN" sz="2800" b="0" i="1" smtClean="0">
                            <a:latin typeface="Cambria Math" panose="02040503050406030204" pitchFamily="18" charset="0"/>
                          </a:rPr>
                          <m:t>𝑝</m:t>
                        </m:r>
                      </m:sub>
                    </m:sSub>
                    <m:sSub>
                      <m:sSubPr>
                        <m:ctrlPr>
                          <a:rPr lang="en-US" sz="2800" i="1" smtClean="0">
                            <a:solidFill>
                              <a:srgbClr val="836967"/>
                            </a:solidFill>
                            <a:latin typeface="Cambria Math" panose="02040503050406030204" pitchFamily="18" charset="0"/>
                          </a:rPr>
                        </m:ctrlPr>
                      </m:sSubPr>
                      <m:e>
                        <m:r>
                          <a:rPr lang="en-IN" sz="2800" b="0" i="1" smtClean="0">
                            <a:solidFill>
                              <a:srgbClr val="836967"/>
                            </a:solidFill>
                            <a:latin typeface="Cambria Math" panose="02040503050406030204" pitchFamily="18" charset="0"/>
                          </a:rPr>
                          <m:t>𝑒</m:t>
                        </m:r>
                      </m:e>
                      <m:sub>
                        <m:r>
                          <a:rPr lang="en-US" sz="2800" i="1" smtClean="0">
                            <a:latin typeface="Cambria Math" panose="02040503050406030204" pitchFamily="18" charset="0"/>
                          </a:rPr>
                          <m:t>𝑡</m:t>
                        </m:r>
                        <m:r>
                          <a:rPr lang="en-US" sz="2800" i="1" smtClean="0">
                            <a:latin typeface="Cambria Math" panose="02040503050406030204" pitchFamily="18" charset="0"/>
                          </a:rPr>
                          <m:t>−</m:t>
                        </m:r>
                        <m:r>
                          <a:rPr lang="en-IN" sz="2800" b="0" i="1" smtClean="0">
                            <a:latin typeface="Cambria Math" panose="02040503050406030204" pitchFamily="18" charset="0"/>
                          </a:rPr>
                          <m:t>𝑝</m:t>
                        </m:r>
                        <m:r>
                          <a:rPr lang="en-IN" sz="2800" b="0" i="1" smtClean="0">
                            <a:latin typeface="Cambria Math" panose="02040503050406030204" pitchFamily="18" charset="0"/>
                          </a:rPr>
                          <m:t> </m:t>
                        </m:r>
                      </m:sub>
                    </m:sSub>
                    <m:r>
                      <a:rPr lang="en-IN" sz="2800" b="0" i="1" smtClean="0">
                        <a:latin typeface="Cambria Math" panose="02040503050406030204" pitchFamily="18" charset="0"/>
                      </a:rPr>
                      <m:t>+</m:t>
                    </m:r>
                    <m:r>
                      <a:rPr lang="en-IN" sz="2800" b="0" i="1" smtClean="0">
                        <a:latin typeface="Cambria Math" panose="02040503050406030204" pitchFamily="18" charset="0"/>
                      </a:rPr>
                      <m:t>𝑒</m:t>
                    </m:r>
                  </m:oMath>
                </a14:m>
                <a:endParaRPr lang="en-US" sz="2800" dirty="0"/>
              </a:p>
              <a:p>
                <a:endParaRPr lang="en-US" sz="2800" dirty="0"/>
              </a:p>
              <a:p>
                <a:r>
                  <a:rPr lang="en-US" sz="2800" dirty="0"/>
                  <a:t>Where,</a:t>
                </a:r>
              </a:p>
              <a:p>
                <a:pPr marL="0" indent="0">
                  <a:buNone/>
                </a:pPr>
                <a:r>
                  <a:rPr lang="en-IN" sz="2800" dirty="0"/>
                  <a:t>   </a:t>
                </a:r>
                <a:r>
                  <a:rPr lang="en-IN" sz="2800" dirty="0" err="1"/>
                  <a:t>Xt</a:t>
                </a:r>
                <a:r>
                  <a:rPr lang="en-IN" sz="2800" dirty="0"/>
                  <a:t>​: Current value.</a:t>
                </a:r>
                <a:endParaRPr lang="en-US" sz="2800" dirty="0"/>
              </a:p>
              <a:p>
                <a:pPr marL="0" indent="0">
                  <a:buNone/>
                </a:pPr>
                <a:r>
                  <a:rPr lang="en-US" sz="2800" dirty="0"/>
                  <a:t>   </a:t>
                </a:r>
                <a:r>
                  <a:rPr lang="en-IN" sz="2800" dirty="0"/>
                  <a:t>c: Constant term.</a:t>
                </a:r>
                <a:endParaRPr lang="en-US" sz="2800" dirty="0"/>
              </a:p>
              <a:p>
                <a:pPr marL="0" indent="0">
                  <a:buNone/>
                </a:pPr>
                <a:r>
                  <a:rPr lang="en-US" sz="2800" dirty="0"/>
                  <a:t>   </a:t>
                </a:r>
                <a:r>
                  <a:rPr lang="en-US" dirty="0" err="1"/>
                  <a:t>θi</a:t>
                </a:r>
                <a:r>
                  <a:rPr lang="en-US" dirty="0"/>
                  <a:t>​: Coefficients of past errors.</a:t>
                </a:r>
                <a:endParaRPr lang="en-US" sz="2800" dirty="0"/>
              </a:p>
              <a:p>
                <a:pPr marL="0" indent="0">
                  <a:buNone/>
                </a:pPr>
                <a:r>
                  <a:rPr lang="en-IN" sz="2800" dirty="0"/>
                  <a:t>   e ​: Error term.</a:t>
                </a:r>
              </a:p>
              <a:p>
                <a:r>
                  <a:rPr lang="en-US" sz="2400" b="1" dirty="0"/>
                  <a:t>Use Case</a:t>
                </a:r>
                <a:r>
                  <a:rPr lang="en-US" sz="2400" dirty="0"/>
                  <a:t>: Models short-term randomness in wind speed.</a:t>
                </a:r>
              </a:p>
              <a:p>
                <a:endParaRPr lang="en-IN" dirty="0"/>
              </a:p>
            </p:txBody>
          </p:sp>
        </mc:Choice>
        <mc:Fallback xmlns="">
          <p:sp>
            <p:nvSpPr>
              <p:cNvPr id="3" name="Content Placeholder 2">
                <a:extLst>
                  <a:ext uri="{FF2B5EF4-FFF2-40B4-BE49-F238E27FC236}">
                    <a16:creationId xmlns:a16="http://schemas.microsoft.com/office/drawing/2014/main" id="{D9D76787-3376-17D7-80EF-6B1957F2BB7A}"/>
                  </a:ext>
                </a:extLst>
              </p:cNvPr>
              <p:cNvSpPr>
                <a:spLocks noGrp="1" noRot="1" noChangeAspect="1" noMove="1" noResize="1" noEditPoints="1" noAdjustHandles="1" noChangeArrowheads="1" noChangeShapeType="1" noTextEdit="1"/>
              </p:cNvSpPr>
              <p:nvPr>
                <p:ph idx="1"/>
              </p:nvPr>
            </p:nvSpPr>
            <p:spPr>
              <a:xfrm>
                <a:off x="838200" y="613274"/>
                <a:ext cx="10515600" cy="5664236"/>
              </a:xfrm>
              <a:blipFill>
                <a:blip r:embed="rId2"/>
                <a:stretch>
                  <a:fillRect l="-1217" t="-1830"/>
                </a:stretch>
              </a:blipFill>
            </p:spPr>
            <p:txBody>
              <a:bodyPr/>
              <a:lstStyle/>
              <a:p>
                <a:r>
                  <a:rPr lang="en-IN">
                    <a:noFill/>
                  </a:rPr>
                  <a:t> </a:t>
                </a:r>
              </a:p>
            </p:txBody>
          </p:sp>
        </mc:Fallback>
      </mc:AlternateContent>
    </p:spTree>
    <p:extLst>
      <p:ext uri="{BB962C8B-B14F-4D97-AF65-F5344CB8AC3E}">
        <p14:creationId xmlns:p14="http://schemas.microsoft.com/office/powerpoint/2010/main" val="36154085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EE910-EC32-6877-83A9-237C0F2C816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2238B6F-3EC6-B5D2-C1BE-C6D768A2B565}"/>
                  </a:ext>
                </a:extLst>
              </p:cNvPr>
              <p:cNvSpPr>
                <a:spLocks noGrp="1"/>
              </p:cNvSpPr>
              <p:nvPr>
                <p:ph idx="1"/>
              </p:nvPr>
            </p:nvSpPr>
            <p:spPr>
              <a:xfrm>
                <a:off x="673814" y="294775"/>
                <a:ext cx="10515600" cy="6311508"/>
              </a:xfrm>
            </p:spPr>
            <p:txBody>
              <a:bodyPr>
                <a:normAutofit/>
              </a:bodyPr>
              <a:lstStyle/>
              <a:p>
                <a:pPr marL="0" indent="0">
                  <a:buNone/>
                </a:pPr>
                <a:r>
                  <a:rPr lang="en-IN" b="1" dirty="0"/>
                  <a:t>Auto-Regressive Moving Average Model</a:t>
                </a:r>
              </a:p>
              <a:p>
                <a14:m>
                  <m:oMath xmlns:m="http://schemas.openxmlformats.org/officeDocument/2006/math">
                    <m:r>
                      <m:rPr>
                        <m:nor/>
                      </m:rPr>
                      <a:rPr lang="en-US" smtClean="0"/>
                      <m:t>Combines</m:t>
                    </m:r>
                    <m:r>
                      <m:rPr>
                        <m:nor/>
                      </m:rPr>
                      <a:rPr lang="en-US" smtClean="0"/>
                      <m:t> </m:t>
                    </m:r>
                    <m:r>
                      <m:rPr>
                        <m:nor/>
                      </m:rPr>
                      <a:rPr lang="en-US" smtClean="0"/>
                      <m:t>AR</m:t>
                    </m:r>
                    <m:r>
                      <m:rPr>
                        <m:nor/>
                      </m:rPr>
                      <a:rPr lang="en-US" smtClean="0"/>
                      <m:t> </m:t>
                    </m:r>
                    <m:r>
                      <m:rPr>
                        <m:nor/>
                      </m:rPr>
                      <a:rPr lang="en-US" smtClean="0"/>
                      <m:t>and</m:t>
                    </m:r>
                    <m:r>
                      <m:rPr>
                        <m:nor/>
                      </m:rPr>
                      <a:rPr lang="en-US" smtClean="0"/>
                      <m:t> </m:t>
                    </m:r>
                    <m:r>
                      <m:rPr>
                        <m:nor/>
                      </m:rPr>
                      <a:rPr lang="en-US" smtClean="0"/>
                      <m:t>MA</m:t>
                    </m:r>
                    <m:r>
                      <m:rPr>
                        <m:nor/>
                      </m:rPr>
                      <a:rPr lang="en-US" smtClean="0"/>
                      <m:t> </m:t>
                    </m:r>
                    <m:r>
                      <m:rPr>
                        <m:nor/>
                      </m:rPr>
                      <a:rPr lang="en-US" smtClean="0"/>
                      <m:t>models</m:t>
                    </m:r>
                    <m:r>
                      <m:rPr>
                        <m:nor/>
                      </m:rPr>
                      <a:rPr lang="en-US" smtClean="0"/>
                      <m:t> </m:t>
                    </m:r>
                    <m:r>
                      <m:rPr>
                        <m:nor/>
                      </m:rPr>
                      <a:rPr lang="en-US" smtClean="0"/>
                      <m:t>to</m:t>
                    </m:r>
                    <m:r>
                      <m:rPr>
                        <m:nor/>
                      </m:rPr>
                      <a:rPr lang="en-US" smtClean="0"/>
                      <m:t> </m:t>
                    </m:r>
                    <m:r>
                      <m:rPr>
                        <m:nor/>
                      </m:rPr>
                      <a:rPr lang="en-US" smtClean="0"/>
                      <m:t>handle</m:t>
                    </m:r>
                    <m:r>
                      <m:rPr>
                        <m:nor/>
                      </m:rPr>
                      <a:rPr lang="en-US" smtClean="0"/>
                      <m:t> </m:t>
                    </m:r>
                    <m:r>
                      <m:rPr>
                        <m:nor/>
                      </m:rPr>
                      <a:rPr lang="en-US" smtClean="0"/>
                      <m:t>both</m:t>
                    </m:r>
                    <m:r>
                      <m:rPr>
                        <m:nor/>
                      </m:rPr>
                      <a:rPr lang="en-US" smtClean="0"/>
                      <m:t> </m:t>
                    </m:r>
                    <m:r>
                      <m:rPr>
                        <m:nor/>
                      </m:rPr>
                      <a:rPr lang="en-US" smtClean="0"/>
                      <m:t>trends</m:t>
                    </m:r>
                    <m:r>
                      <m:rPr>
                        <m:nor/>
                      </m:rPr>
                      <a:rPr lang="en-US" smtClean="0"/>
                      <m:t> </m:t>
                    </m:r>
                    <m:r>
                      <m:rPr>
                        <m:nor/>
                      </m:rPr>
                      <a:rPr lang="en-US" smtClean="0"/>
                      <m:t>and</m:t>
                    </m:r>
                    <m:r>
                      <m:rPr>
                        <m:nor/>
                      </m:rPr>
                      <a:rPr lang="en-US" smtClean="0"/>
                      <m:t> </m:t>
                    </m:r>
                    <m:r>
                      <m:rPr>
                        <m:nor/>
                      </m:rPr>
                      <a:rPr lang="en-US" smtClean="0"/>
                      <m:t>random</m:t>
                    </m:r>
                    <m:r>
                      <m:rPr>
                        <m:nor/>
                      </m:rPr>
                      <a:rPr lang="en-US" smtClean="0"/>
                      <m:t> </m:t>
                    </m:r>
                    <m:r>
                      <m:rPr>
                        <m:nor/>
                      </m:rPr>
                      <a:rPr lang="en-US" smtClean="0"/>
                      <m:t>fluctuations</m:t>
                    </m:r>
                    <m:r>
                      <m:rPr>
                        <m:nor/>
                      </m:rPr>
                      <a:rPr lang="en-US" smtClean="0"/>
                      <m:t>.</m:t>
                    </m:r>
                  </m:oMath>
                </a14:m>
                <a:endParaRPr lang="en-IN" dirty="0"/>
              </a:p>
              <a:p>
                <a14:m>
                  <m:oMath xmlns:m="http://schemas.openxmlformats.org/officeDocument/2006/math">
                    <m:sSub>
                      <m:sSubPr>
                        <m:ctrlPr>
                          <a:rPr lang="en-US" sz="2800" i="1" smtClean="0">
                            <a:solidFill>
                              <a:srgbClr val="836967"/>
                            </a:solidFill>
                            <a:latin typeface="Cambria Math" panose="02040503050406030204" pitchFamily="18" charset="0"/>
                          </a:rPr>
                        </m:ctrlPr>
                      </m:sSubPr>
                      <m:e>
                        <m:r>
                          <a:rPr lang="en-US" sz="2800" i="1" smtClean="0">
                            <a:latin typeface="Cambria Math" panose="02040503050406030204" pitchFamily="18" charset="0"/>
                          </a:rPr>
                          <m:t>𝑥</m:t>
                        </m:r>
                      </m:e>
                      <m:sub>
                        <m:r>
                          <a:rPr lang="en-US" sz="2800" i="1" smtClean="0">
                            <a:latin typeface="Cambria Math" panose="02040503050406030204" pitchFamily="18" charset="0"/>
                          </a:rPr>
                          <m:t>𝑡</m:t>
                        </m:r>
                      </m:sub>
                    </m:sSub>
                    <m:r>
                      <a:rPr lang="en-US" sz="2800" i="1" smtClean="0">
                        <a:latin typeface="Cambria Math" panose="02040503050406030204" pitchFamily="18" charset="0"/>
                      </a:rPr>
                      <m:t>=</m:t>
                    </m:r>
                    <m:r>
                      <a:rPr lang="en-US" sz="2800" i="1" smtClean="0">
                        <a:latin typeface="Cambria Math" panose="02040503050406030204" pitchFamily="18" charset="0"/>
                      </a:rPr>
                      <m:t>𝐶</m:t>
                    </m:r>
                    <m:r>
                      <a:rPr lang="en-US" sz="2800" i="1" smtClean="0">
                        <a:latin typeface="Cambria Math" panose="02040503050406030204" pitchFamily="18" charset="0"/>
                      </a:rPr>
                      <m:t>+</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1</m:t>
                        </m:r>
                      </m:sub>
                    </m:sSub>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r>
                          <a:rPr lang="en-US" i="1">
                            <a:latin typeface="Cambria Math" panose="02040503050406030204" pitchFamily="18" charset="0"/>
                          </a:rPr>
                          <m:t>−1</m:t>
                        </m:r>
                      </m:sub>
                    </m:sSub>
                    <m:r>
                      <a:rPr lang="en-IN">
                        <a:latin typeface="Cambria Math" panose="02040503050406030204" pitchFamily="18" charset="0"/>
                      </a:rPr>
                      <m:t>+</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𝜙</m:t>
                        </m:r>
                      </m:e>
                      <m:sub>
                        <m:r>
                          <a:rPr lang="en-IN" i="1">
                            <a:latin typeface="Cambria Math" panose="02040503050406030204" pitchFamily="18" charset="0"/>
                          </a:rPr>
                          <m:t>2</m:t>
                        </m:r>
                      </m:sub>
                    </m:sSub>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r>
                          <a:rPr lang="en-US" i="1">
                            <a:latin typeface="Cambria Math" panose="02040503050406030204" pitchFamily="18" charset="0"/>
                          </a:rPr>
                          <m:t>−2</m:t>
                        </m:r>
                      </m:sub>
                    </m:sSub>
                    <m:r>
                      <m:rPr>
                        <m:nor/>
                      </m:rPr>
                      <a:rPr lang="en-US" dirty="0"/>
                      <m:t>+</m:t>
                    </m:r>
                    <m:r>
                      <m:rPr>
                        <m:nor/>
                      </m:rPr>
                      <a:rPr lang="en-US" dirty="0">
                        <a:solidFill>
                          <a:srgbClr val="836967"/>
                        </a:solidFill>
                      </a:rPr>
                      <m:t> </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𝜙</m:t>
                        </m:r>
                      </m:e>
                      <m:sub>
                        <m:r>
                          <a:rPr lang="en-IN" i="1">
                            <a:latin typeface="Cambria Math" panose="02040503050406030204" pitchFamily="18" charset="0"/>
                          </a:rPr>
                          <m:t>3</m:t>
                        </m:r>
                      </m:sub>
                    </m:sSub>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r>
                          <a:rPr lang="en-US" i="1">
                            <a:latin typeface="Cambria Math" panose="02040503050406030204" pitchFamily="18" charset="0"/>
                          </a:rPr>
                          <m:t>−3</m:t>
                        </m:r>
                      </m:sub>
                    </m:sSub>
                    <m:r>
                      <m:rPr>
                        <m:nor/>
                      </m:rPr>
                      <a:rPr lang="en-US" dirty="0"/>
                      <m:t>+……….+</m:t>
                    </m:r>
                    <m:r>
                      <m:rPr>
                        <m:nor/>
                      </m:rPr>
                      <a:rPr lang="en-US" dirty="0">
                        <a:solidFill>
                          <a:srgbClr val="836967"/>
                        </a:solidFill>
                      </a:rPr>
                      <m:t> </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𝜙</m:t>
                        </m:r>
                      </m:e>
                      <m:sub>
                        <m:r>
                          <a:rPr lang="en-IN" i="1">
                            <a:latin typeface="Cambria Math" panose="02040503050406030204" pitchFamily="18" charset="0"/>
                          </a:rPr>
                          <m:t>𝑝</m:t>
                        </m:r>
                      </m:sub>
                    </m:sSub>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r>
                          <a:rPr lang="en-US" i="1">
                            <a:latin typeface="Cambria Math" panose="02040503050406030204" pitchFamily="18" charset="0"/>
                          </a:rPr>
                          <m:t>−</m:t>
                        </m:r>
                        <m:r>
                          <a:rPr lang="en-IN" i="1">
                            <a:latin typeface="Cambria Math" panose="02040503050406030204" pitchFamily="18" charset="0"/>
                          </a:rPr>
                          <m:t>𝑝</m:t>
                        </m:r>
                        <m:r>
                          <a:rPr lang="en-IN" i="1">
                            <a:latin typeface="Cambria Math" panose="02040503050406030204" pitchFamily="18" charset="0"/>
                          </a:rPr>
                          <m:t> </m:t>
                        </m:r>
                      </m:sub>
                    </m:sSub>
                    <m:r>
                      <a:rPr lang="en-IN" b="0" i="1" smtClean="0">
                        <a:latin typeface="Cambria Math" panose="02040503050406030204" pitchFamily="18" charset="0"/>
                      </a:rPr>
                      <m:t>+                            </m:t>
                    </m:r>
                    <m:sSub>
                      <m:sSubPr>
                        <m:ctrlPr>
                          <a:rPr lang="en-US" sz="2800" i="1" smtClean="0">
                            <a:solidFill>
                              <a:srgbClr val="836967"/>
                            </a:solidFill>
                            <a:latin typeface="Cambria Math" panose="02040503050406030204" pitchFamily="18" charset="0"/>
                          </a:rPr>
                        </m:ctrlPr>
                      </m:sSubPr>
                      <m:e>
                        <m:r>
                          <m:rPr>
                            <m:nor/>
                          </m:rPr>
                          <a:rPr lang="el-GR" smtClean="0"/>
                          <m:t>θ</m:t>
                        </m:r>
                      </m:e>
                      <m:sub>
                        <m:r>
                          <a:rPr lang="en-US" sz="2800" i="1" smtClean="0">
                            <a:latin typeface="Cambria Math" panose="02040503050406030204" pitchFamily="18" charset="0"/>
                          </a:rPr>
                          <m:t>1</m:t>
                        </m:r>
                      </m:sub>
                    </m:sSub>
                    <m:sSub>
                      <m:sSubPr>
                        <m:ctrlPr>
                          <a:rPr lang="en-US" sz="2800" i="1" smtClean="0">
                            <a:solidFill>
                              <a:srgbClr val="836967"/>
                            </a:solidFill>
                            <a:latin typeface="Cambria Math" panose="02040503050406030204" pitchFamily="18" charset="0"/>
                          </a:rPr>
                        </m:ctrlPr>
                      </m:sSubPr>
                      <m:e>
                        <m:r>
                          <a:rPr lang="en-IN" sz="2800" b="0" i="1" smtClean="0">
                            <a:solidFill>
                              <a:srgbClr val="836967"/>
                            </a:solidFill>
                            <a:latin typeface="Cambria Math" panose="02040503050406030204" pitchFamily="18" charset="0"/>
                          </a:rPr>
                          <m:t>𝑒</m:t>
                        </m:r>
                      </m:e>
                      <m:sub>
                        <m:r>
                          <a:rPr lang="en-US" sz="2800" i="1" smtClean="0">
                            <a:latin typeface="Cambria Math" panose="02040503050406030204" pitchFamily="18" charset="0"/>
                          </a:rPr>
                          <m:t>𝑡</m:t>
                        </m:r>
                        <m:r>
                          <a:rPr lang="en-US" sz="2800" i="1" smtClean="0">
                            <a:latin typeface="Cambria Math" panose="02040503050406030204" pitchFamily="18" charset="0"/>
                          </a:rPr>
                          <m:t>−1</m:t>
                        </m:r>
                      </m:sub>
                    </m:sSub>
                    <m:r>
                      <a:rPr lang="en-IN" sz="2800" b="0" i="0" smtClean="0">
                        <a:latin typeface="Cambria Math" panose="02040503050406030204" pitchFamily="18" charset="0"/>
                      </a:rPr>
                      <m:t>+</m:t>
                    </m:r>
                    <m:sSub>
                      <m:sSubPr>
                        <m:ctrlPr>
                          <a:rPr lang="en-US" sz="2800" i="1" smtClean="0">
                            <a:solidFill>
                              <a:srgbClr val="836967"/>
                            </a:solidFill>
                            <a:latin typeface="Cambria Math" panose="02040503050406030204" pitchFamily="18" charset="0"/>
                          </a:rPr>
                        </m:ctrlPr>
                      </m:sSubPr>
                      <m:e>
                        <m:r>
                          <m:rPr>
                            <m:nor/>
                          </m:rPr>
                          <a:rPr lang="el-GR" smtClean="0"/>
                          <m:t>θ</m:t>
                        </m:r>
                      </m:e>
                      <m:sub>
                        <m:r>
                          <a:rPr lang="en-IN" sz="2800" b="0" i="1" smtClean="0">
                            <a:latin typeface="Cambria Math" panose="02040503050406030204" pitchFamily="18" charset="0"/>
                          </a:rPr>
                          <m:t>2</m:t>
                        </m:r>
                      </m:sub>
                    </m:sSub>
                    <m:sSub>
                      <m:sSubPr>
                        <m:ctrlPr>
                          <a:rPr lang="en-US" sz="2800" i="1" smtClean="0">
                            <a:solidFill>
                              <a:srgbClr val="836967"/>
                            </a:solidFill>
                            <a:latin typeface="Cambria Math" panose="02040503050406030204" pitchFamily="18" charset="0"/>
                          </a:rPr>
                        </m:ctrlPr>
                      </m:sSubPr>
                      <m:e>
                        <m:r>
                          <a:rPr lang="en-IN" sz="2800" b="0" i="1" smtClean="0">
                            <a:solidFill>
                              <a:srgbClr val="836967"/>
                            </a:solidFill>
                            <a:latin typeface="Cambria Math" panose="02040503050406030204" pitchFamily="18" charset="0"/>
                          </a:rPr>
                          <m:t>𝑒</m:t>
                        </m:r>
                      </m:e>
                      <m:sub>
                        <m:r>
                          <a:rPr lang="en-US" sz="2800" i="1" smtClean="0">
                            <a:latin typeface="Cambria Math" panose="02040503050406030204" pitchFamily="18" charset="0"/>
                          </a:rPr>
                          <m:t>𝑡</m:t>
                        </m:r>
                        <m:r>
                          <a:rPr lang="en-US" sz="2800" i="1" smtClean="0">
                            <a:latin typeface="Cambria Math" panose="02040503050406030204" pitchFamily="18" charset="0"/>
                          </a:rPr>
                          <m:t>−2</m:t>
                        </m:r>
                      </m:sub>
                    </m:sSub>
                  </m:oMath>
                </a14:m>
                <a:r>
                  <a:rPr lang="en-US" sz="2800" dirty="0"/>
                  <a:t>+</a:t>
                </a:r>
                <a:r>
                  <a:rPr lang="en-US" sz="2800" dirty="0">
                    <a:solidFill>
                      <a:srgbClr val="836967"/>
                    </a:solidFill>
                  </a:rPr>
                  <a:t> </a:t>
                </a:r>
                <a14:m>
                  <m:oMath xmlns:m="http://schemas.openxmlformats.org/officeDocument/2006/math">
                    <m:sSub>
                      <m:sSubPr>
                        <m:ctrlPr>
                          <a:rPr lang="en-US" sz="2800" i="1" smtClean="0">
                            <a:solidFill>
                              <a:srgbClr val="836967"/>
                            </a:solidFill>
                            <a:latin typeface="Cambria Math" panose="02040503050406030204" pitchFamily="18" charset="0"/>
                          </a:rPr>
                        </m:ctrlPr>
                      </m:sSubPr>
                      <m:e>
                        <m:r>
                          <m:rPr>
                            <m:nor/>
                          </m:rPr>
                          <a:rPr lang="el-GR" smtClean="0"/>
                          <m:t>θ</m:t>
                        </m:r>
                      </m:e>
                      <m:sub>
                        <m:r>
                          <a:rPr lang="en-IN" sz="2800" b="0" i="1" smtClean="0">
                            <a:latin typeface="Cambria Math" panose="02040503050406030204" pitchFamily="18" charset="0"/>
                          </a:rPr>
                          <m:t>3</m:t>
                        </m:r>
                      </m:sub>
                    </m:sSub>
                    <m:sSub>
                      <m:sSubPr>
                        <m:ctrlPr>
                          <a:rPr lang="en-US" sz="2800" i="1" smtClean="0">
                            <a:solidFill>
                              <a:srgbClr val="836967"/>
                            </a:solidFill>
                            <a:latin typeface="Cambria Math" panose="02040503050406030204" pitchFamily="18" charset="0"/>
                          </a:rPr>
                        </m:ctrlPr>
                      </m:sSubPr>
                      <m:e>
                        <m:r>
                          <a:rPr lang="en-IN" sz="2800" b="0" i="1" smtClean="0">
                            <a:solidFill>
                              <a:srgbClr val="836967"/>
                            </a:solidFill>
                            <a:latin typeface="Cambria Math" panose="02040503050406030204" pitchFamily="18" charset="0"/>
                          </a:rPr>
                          <m:t>𝑒</m:t>
                        </m:r>
                      </m:e>
                      <m:sub>
                        <m:r>
                          <a:rPr lang="en-US" sz="2800" i="1" smtClean="0">
                            <a:latin typeface="Cambria Math" panose="02040503050406030204" pitchFamily="18" charset="0"/>
                          </a:rPr>
                          <m:t>𝑡</m:t>
                        </m:r>
                        <m:r>
                          <a:rPr lang="en-US" sz="2800" i="1" smtClean="0">
                            <a:latin typeface="Cambria Math" panose="02040503050406030204" pitchFamily="18" charset="0"/>
                          </a:rPr>
                          <m:t>−3</m:t>
                        </m:r>
                      </m:sub>
                    </m:sSub>
                  </m:oMath>
                </a14:m>
                <a:r>
                  <a:rPr lang="en-US" sz="2800" dirty="0"/>
                  <a:t>+……….+</a:t>
                </a:r>
                <a:r>
                  <a:rPr lang="en-US" sz="2800" dirty="0">
                    <a:solidFill>
                      <a:srgbClr val="836967"/>
                    </a:solidFill>
                  </a:rPr>
                  <a:t> </a:t>
                </a:r>
                <a14:m>
                  <m:oMath xmlns:m="http://schemas.openxmlformats.org/officeDocument/2006/math">
                    <m:sSub>
                      <m:sSubPr>
                        <m:ctrlPr>
                          <a:rPr lang="en-US" sz="2800" i="1" smtClean="0">
                            <a:solidFill>
                              <a:srgbClr val="836967"/>
                            </a:solidFill>
                            <a:latin typeface="Cambria Math" panose="02040503050406030204" pitchFamily="18" charset="0"/>
                          </a:rPr>
                        </m:ctrlPr>
                      </m:sSubPr>
                      <m:e>
                        <m:r>
                          <m:rPr>
                            <m:nor/>
                          </m:rPr>
                          <a:rPr lang="el-GR" smtClean="0"/>
                          <m:t>θ</m:t>
                        </m:r>
                      </m:e>
                      <m:sub>
                        <m:r>
                          <a:rPr lang="en-IN" sz="2800" b="0" i="1" smtClean="0">
                            <a:latin typeface="Cambria Math" panose="02040503050406030204" pitchFamily="18" charset="0"/>
                          </a:rPr>
                          <m:t>𝑝</m:t>
                        </m:r>
                      </m:sub>
                    </m:sSub>
                    <m:sSub>
                      <m:sSubPr>
                        <m:ctrlPr>
                          <a:rPr lang="en-US" sz="2800" i="1" smtClean="0">
                            <a:solidFill>
                              <a:srgbClr val="836967"/>
                            </a:solidFill>
                            <a:latin typeface="Cambria Math" panose="02040503050406030204" pitchFamily="18" charset="0"/>
                          </a:rPr>
                        </m:ctrlPr>
                      </m:sSubPr>
                      <m:e>
                        <m:r>
                          <a:rPr lang="en-IN" sz="2800" b="0" i="1" smtClean="0">
                            <a:solidFill>
                              <a:srgbClr val="836967"/>
                            </a:solidFill>
                            <a:latin typeface="Cambria Math" panose="02040503050406030204" pitchFamily="18" charset="0"/>
                          </a:rPr>
                          <m:t>𝑒</m:t>
                        </m:r>
                      </m:e>
                      <m:sub>
                        <m:r>
                          <a:rPr lang="en-US" sz="2800" i="1" smtClean="0">
                            <a:latin typeface="Cambria Math" panose="02040503050406030204" pitchFamily="18" charset="0"/>
                          </a:rPr>
                          <m:t>𝑡</m:t>
                        </m:r>
                        <m:r>
                          <a:rPr lang="en-US" sz="2800" i="1" smtClean="0">
                            <a:latin typeface="Cambria Math" panose="02040503050406030204" pitchFamily="18" charset="0"/>
                          </a:rPr>
                          <m:t>−</m:t>
                        </m:r>
                        <m:r>
                          <a:rPr lang="en-IN" sz="2800" b="0" i="1" smtClean="0">
                            <a:latin typeface="Cambria Math" panose="02040503050406030204" pitchFamily="18" charset="0"/>
                          </a:rPr>
                          <m:t>𝑝</m:t>
                        </m:r>
                        <m:r>
                          <a:rPr lang="en-IN" sz="2800" b="0" i="1" smtClean="0">
                            <a:latin typeface="Cambria Math" panose="02040503050406030204" pitchFamily="18" charset="0"/>
                          </a:rPr>
                          <m:t> </m:t>
                        </m:r>
                      </m:sub>
                    </m:sSub>
                    <m:r>
                      <a:rPr lang="en-IN" sz="2800" b="0" i="1" smtClean="0">
                        <a:latin typeface="Cambria Math" panose="02040503050406030204" pitchFamily="18" charset="0"/>
                      </a:rPr>
                      <m:t>+</m:t>
                    </m:r>
                    <m:r>
                      <a:rPr lang="en-IN" sz="2800" b="0" i="1" smtClean="0">
                        <a:latin typeface="Cambria Math" panose="02040503050406030204" pitchFamily="18" charset="0"/>
                      </a:rPr>
                      <m:t>𝑒</m:t>
                    </m:r>
                  </m:oMath>
                </a14:m>
                <a:endParaRPr lang="en-US" sz="2800" dirty="0"/>
              </a:p>
              <a:p>
                <a:endParaRPr lang="en-US" sz="2800" dirty="0"/>
              </a:p>
              <a:p>
                <a:r>
                  <a:rPr lang="en-US" sz="2800" dirty="0"/>
                  <a:t>Where,</a:t>
                </a:r>
              </a:p>
              <a:p>
                <a:pPr marL="0" indent="0">
                  <a:buNone/>
                </a:pPr>
                <a:r>
                  <a:rPr lang="en-IN" sz="2800" dirty="0"/>
                  <a:t>   </a:t>
                </a:r>
                <a:r>
                  <a:rPr lang="en-IN" sz="2800" dirty="0" err="1"/>
                  <a:t>Xt</a:t>
                </a:r>
                <a:r>
                  <a:rPr lang="en-IN" sz="2800" dirty="0"/>
                  <a:t>​: Current value.</a:t>
                </a:r>
                <a:endParaRPr lang="en-US" sz="2800" dirty="0"/>
              </a:p>
              <a:p>
                <a:pPr marL="0" indent="0">
                  <a:buNone/>
                </a:pPr>
                <a:r>
                  <a:rPr lang="en-US" sz="2800" dirty="0"/>
                  <a:t>   </a:t>
                </a:r>
                <a:r>
                  <a:rPr lang="en-IN" sz="2800" dirty="0"/>
                  <a:t>c: Constant term.</a:t>
                </a:r>
              </a:p>
              <a:p>
                <a:pPr marL="0" indent="0">
                  <a:buNone/>
                </a:pPr>
                <a:r>
                  <a:rPr lang="en-US" sz="2800" dirty="0"/>
                  <a:t>   </a:t>
                </a:r>
                <a:r>
                  <a:rPr lang="en-US" sz="2800" dirty="0" err="1"/>
                  <a:t>ϕi</a:t>
                </a:r>
                <a:r>
                  <a:rPr lang="en-US" sz="2800" dirty="0"/>
                  <a:t>​: Coefficients of past values (lags).</a:t>
                </a:r>
              </a:p>
              <a:p>
                <a:pPr marL="0" indent="0">
                  <a:buNone/>
                </a:pPr>
                <a:r>
                  <a:rPr lang="en-US" sz="2800" dirty="0"/>
                  <a:t>   </a:t>
                </a:r>
                <a:r>
                  <a:rPr lang="en-US" dirty="0" err="1"/>
                  <a:t>θi</a:t>
                </a:r>
                <a:r>
                  <a:rPr lang="en-US" dirty="0"/>
                  <a:t>​: Coefficients of past errors.</a:t>
                </a:r>
                <a:endParaRPr lang="en-US" sz="2800" dirty="0"/>
              </a:p>
              <a:p>
                <a:pPr marL="0" indent="0">
                  <a:buNone/>
                </a:pPr>
                <a:r>
                  <a:rPr lang="en-IN" sz="2800" dirty="0"/>
                  <a:t>   e ​: Error term.</a:t>
                </a:r>
                <a:endParaRPr lang="en-US" sz="2800" dirty="0"/>
              </a:p>
              <a:p>
                <a:endParaRPr lang="en-IN" dirty="0"/>
              </a:p>
            </p:txBody>
          </p:sp>
        </mc:Choice>
        <mc:Fallback xmlns="">
          <p:sp>
            <p:nvSpPr>
              <p:cNvPr id="3" name="Content Placeholder 2">
                <a:extLst>
                  <a:ext uri="{FF2B5EF4-FFF2-40B4-BE49-F238E27FC236}">
                    <a16:creationId xmlns:a16="http://schemas.microsoft.com/office/drawing/2014/main" id="{22238B6F-3EC6-B5D2-C1BE-C6D768A2B565}"/>
                  </a:ext>
                </a:extLst>
              </p:cNvPr>
              <p:cNvSpPr>
                <a:spLocks noGrp="1" noRot="1" noChangeAspect="1" noMove="1" noResize="1" noEditPoints="1" noAdjustHandles="1" noChangeArrowheads="1" noChangeShapeType="1" noTextEdit="1"/>
              </p:cNvSpPr>
              <p:nvPr>
                <p:ph idx="1"/>
              </p:nvPr>
            </p:nvSpPr>
            <p:spPr>
              <a:xfrm>
                <a:off x="673814" y="294775"/>
                <a:ext cx="10515600" cy="6311508"/>
              </a:xfrm>
              <a:blipFill>
                <a:blip r:embed="rId2"/>
                <a:stretch>
                  <a:fillRect l="-1217" t="-1544"/>
                </a:stretch>
              </a:blipFill>
            </p:spPr>
            <p:txBody>
              <a:bodyPr/>
              <a:lstStyle/>
              <a:p>
                <a:r>
                  <a:rPr lang="en-IN">
                    <a:noFill/>
                  </a:rPr>
                  <a:t> </a:t>
                </a:r>
              </a:p>
            </p:txBody>
          </p:sp>
        </mc:Fallback>
      </mc:AlternateContent>
    </p:spTree>
    <p:extLst>
      <p:ext uri="{BB962C8B-B14F-4D97-AF65-F5344CB8AC3E}">
        <p14:creationId xmlns:p14="http://schemas.microsoft.com/office/powerpoint/2010/main" val="25884951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71AC17A-AEEA-C312-6D77-D3FA9E03E90E}"/>
              </a:ext>
            </a:extLst>
          </p:cNvPr>
          <p:cNvPicPr>
            <a:picLocks noChangeAspect="1"/>
          </p:cNvPicPr>
          <p:nvPr/>
        </p:nvPicPr>
        <p:blipFill>
          <a:blip r:embed="rId2"/>
          <a:stretch>
            <a:fillRect/>
          </a:stretch>
        </p:blipFill>
        <p:spPr>
          <a:xfrm>
            <a:off x="2147595" y="1296490"/>
            <a:ext cx="8223204" cy="4265020"/>
          </a:xfrm>
          <a:prstGeom prst="rect">
            <a:avLst/>
          </a:prstGeom>
        </p:spPr>
      </p:pic>
    </p:spTree>
    <p:extLst>
      <p:ext uri="{BB962C8B-B14F-4D97-AF65-F5344CB8AC3E}">
        <p14:creationId xmlns:p14="http://schemas.microsoft.com/office/powerpoint/2010/main" val="24983797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32EDC-5163-212E-0319-35D43331A2DD}"/>
              </a:ext>
            </a:extLst>
          </p:cNvPr>
          <p:cNvSpPr>
            <a:spLocks noGrp="1"/>
          </p:cNvSpPr>
          <p:nvPr>
            <p:ph type="title"/>
          </p:nvPr>
        </p:nvSpPr>
        <p:spPr>
          <a:xfrm>
            <a:off x="478605" y="211013"/>
            <a:ext cx="10515600" cy="1325563"/>
          </a:xfrm>
        </p:spPr>
        <p:txBody>
          <a:bodyPr/>
          <a:lstStyle/>
          <a:p>
            <a:r>
              <a:rPr lang="en-IN" b="1" dirty="0"/>
              <a:t>Linear Regression</a:t>
            </a:r>
          </a:p>
        </p:txBody>
      </p:sp>
      <p:sp>
        <p:nvSpPr>
          <p:cNvPr id="3" name="Content Placeholder 2">
            <a:extLst>
              <a:ext uri="{FF2B5EF4-FFF2-40B4-BE49-F238E27FC236}">
                <a16:creationId xmlns:a16="http://schemas.microsoft.com/office/drawing/2014/main" id="{3C3245F4-F7DB-B3BE-39B4-2ABB2495D970}"/>
              </a:ext>
            </a:extLst>
          </p:cNvPr>
          <p:cNvSpPr>
            <a:spLocks noGrp="1"/>
          </p:cNvSpPr>
          <p:nvPr>
            <p:ph idx="1"/>
          </p:nvPr>
        </p:nvSpPr>
        <p:spPr>
          <a:xfrm>
            <a:off x="478605" y="1293759"/>
            <a:ext cx="10515600" cy="5147353"/>
          </a:xfrm>
        </p:spPr>
        <p:txBody>
          <a:bodyPr>
            <a:normAutofit fontScale="92500" lnSpcReduction="20000"/>
          </a:bodyPr>
          <a:lstStyle/>
          <a:p>
            <a:pPr>
              <a:lnSpc>
                <a:spcPct val="150000"/>
              </a:lnSpc>
            </a:pPr>
            <a:r>
              <a:rPr lang="en-US" sz="2400" dirty="0"/>
              <a:t>Predicts the wind energy output based on the wind speed and other meteorological variables. </a:t>
            </a:r>
          </a:p>
          <a:p>
            <a:pPr marL="0" marR="0" lvl="0" indent="0" algn="l" defTabSz="914400" rtl="0" eaLnBrk="0" fontAlgn="base" latinLnBrk="0" hangingPunct="0">
              <a:lnSpc>
                <a:spcPct val="150000"/>
              </a:lnSpc>
              <a:spcBef>
                <a:spcPct val="0"/>
              </a:spcBef>
              <a:spcAft>
                <a:spcPct val="0"/>
              </a:spcAft>
              <a:buClrTx/>
              <a:buSzTx/>
              <a:buFontTx/>
              <a:buChar char="•"/>
              <a:tabLst/>
            </a:pPr>
            <a:r>
              <a:rPr lang="en-US" sz="2400" dirty="0"/>
              <a:t>The relationship between wind speed and energy output can often be approximated linearly, though non-linearity may require more complex models.</a:t>
            </a: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endParaRPr lang="en-US" altLang="en-US" sz="2400" dirty="0">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y is the dependent variable (e.g., power output).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x is the independent variable (e.g., wind speed).</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β0 is the intercept (constant term).</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β1​ is the coefficient for x</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ϵis the error.</a:t>
            </a:r>
          </a:p>
          <a:p>
            <a:endParaRPr lang="en-IN" dirty="0"/>
          </a:p>
        </p:txBody>
      </p:sp>
      <p:pic>
        <p:nvPicPr>
          <p:cNvPr id="5" name="Picture 4">
            <a:extLst>
              <a:ext uri="{FF2B5EF4-FFF2-40B4-BE49-F238E27FC236}">
                <a16:creationId xmlns:a16="http://schemas.microsoft.com/office/drawing/2014/main" id="{8CB316BF-4453-46D3-7797-89EE53F7ED78}"/>
              </a:ext>
            </a:extLst>
          </p:cNvPr>
          <p:cNvPicPr>
            <a:picLocks noChangeAspect="1"/>
          </p:cNvPicPr>
          <p:nvPr/>
        </p:nvPicPr>
        <p:blipFill>
          <a:blip r:embed="rId2"/>
          <a:stretch>
            <a:fillRect/>
          </a:stretch>
        </p:blipFill>
        <p:spPr>
          <a:xfrm>
            <a:off x="3485870" y="3137290"/>
            <a:ext cx="4501070" cy="851554"/>
          </a:xfrm>
          <a:prstGeom prst="rect">
            <a:avLst/>
          </a:prstGeom>
        </p:spPr>
      </p:pic>
    </p:spTree>
    <p:extLst>
      <p:ext uri="{BB962C8B-B14F-4D97-AF65-F5344CB8AC3E}">
        <p14:creationId xmlns:p14="http://schemas.microsoft.com/office/powerpoint/2010/main" val="32171846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5EE15-C06E-B97A-3D6A-71F5D3129825}"/>
              </a:ext>
            </a:extLst>
          </p:cNvPr>
          <p:cNvSpPr>
            <a:spLocks noGrp="1"/>
          </p:cNvSpPr>
          <p:nvPr>
            <p:ph type="title"/>
          </p:nvPr>
        </p:nvSpPr>
        <p:spPr>
          <a:xfrm>
            <a:off x="735458" y="139094"/>
            <a:ext cx="10515600" cy="1325563"/>
          </a:xfrm>
        </p:spPr>
        <p:txBody>
          <a:bodyPr/>
          <a:lstStyle/>
          <a:p>
            <a:r>
              <a:rPr lang="en-IN" b="1" dirty="0"/>
              <a:t>Multiple Linear Regression</a:t>
            </a:r>
          </a:p>
        </p:txBody>
      </p:sp>
      <p:sp>
        <p:nvSpPr>
          <p:cNvPr id="3" name="Content Placeholder 2">
            <a:extLst>
              <a:ext uri="{FF2B5EF4-FFF2-40B4-BE49-F238E27FC236}">
                <a16:creationId xmlns:a16="http://schemas.microsoft.com/office/drawing/2014/main" id="{3CB50068-FFBA-1667-AF0D-70683B097D08}"/>
              </a:ext>
            </a:extLst>
          </p:cNvPr>
          <p:cNvSpPr>
            <a:spLocks noGrp="1"/>
          </p:cNvSpPr>
          <p:nvPr>
            <p:ph idx="1"/>
          </p:nvPr>
        </p:nvSpPr>
        <p:spPr>
          <a:xfrm>
            <a:off x="735458" y="1464657"/>
            <a:ext cx="10515600" cy="4351338"/>
          </a:xfrm>
        </p:spPr>
        <p:txBody>
          <a:bodyPr>
            <a:normAutofit fontScale="92500" lnSpcReduction="10000"/>
          </a:bodyPr>
          <a:lstStyle/>
          <a:p>
            <a:r>
              <a:rPr lang="en-US" sz="2600" dirty="0"/>
              <a:t>Multiple linear regression extends the concept of simple linear regression by considering more than one independent variable.</a:t>
            </a:r>
          </a:p>
          <a:p>
            <a:r>
              <a:rPr lang="en-US" sz="2600" dirty="0"/>
              <a:t>This is useful when multiple factors (e.g., wind speed, temperature, air density) affect the dependent variable.</a:t>
            </a:r>
          </a:p>
          <a:p>
            <a:pPr marL="0" indent="0">
              <a:buNone/>
            </a:pPr>
            <a:endParaRPr lang="en-US" dirty="0"/>
          </a:p>
          <a:p>
            <a:endParaRPr lang="en-US" dirty="0"/>
          </a:p>
          <a:p>
            <a:endParaRPr lang="en-US" sz="2600" dirty="0"/>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latin typeface="Arial" panose="020B0604020202020204" pitchFamily="34" charset="0"/>
              </a:rPr>
              <a:t> </a:t>
            </a:r>
            <a:r>
              <a:rPr kumimoji="0" lang="en-US" altLang="en-US" sz="2600" b="0" i="0" u="none" strike="noStrike" cap="none" normalizeH="0" baseline="0" dirty="0">
                <a:ln>
                  <a:noFill/>
                </a:ln>
                <a:solidFill>
                  <a:schemeClr val="tx1"/>
                </a:solidFill>
                <a:effectLst/>
              </a:rPr>
              <a:t>y is the dependent variable (e.g., power output).</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600" dirty="0"/>
              <a:t>x</a:t>
            </a:r>
            <a:r>
              <a:rPr kumimoji="0" lang="en-US" altLang="en-US" sz="2600" b="0" i="0" u="none" strike="noStrike" cap="none" normalizeH="0" baseline="0" dirty="0">
                <a:ln>
                  <a:noFill/>
                </a:ln>
                <a:solidFill>
                  <a:schemeClr val="tx1"/>
                </a:solidFill>
                <a:effectLst/>
              </a:rPr>
              <a:t>1,x2 is the independent variable (e.g., wind speed).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rPr>
              <a:t>β0 is the intercept (constant term).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rPr>
              <a:t>β​ is the coefficient for x</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rPr>
              <a:t>ϵis the error.</a:t>
            </a:r>
          </a:p>
          <a:p>
            <a:endParaRPr lang="en-US" dirty="0"/>
          </a:p>
          <a:p>
            <a:endParaRPr lang="en-US" dirty="0"/>
          </a:p>
          <a:p>
            <a:endParaRPr lang="en-US" dirty="0"/>
          </a:p>
          <a:p>
            <a:endParaRPr lang="en-IN" dirty="0"/>
          </a:p>
        </p:txBody>
      </p:sp>
      <p:pic>
        <p:nvPicPr>
          <p:cNvPr id="5" name="Picture 4">
            <a:extLst>
              <a:ext uri="{FF2B5EF4-FFF2-40B4-BE49-F238E27FC236}">
                <a16:creationId xmlns:a16="http://schemas.microsoft.com/office/drawing/2014/main" id="{7200B561-CA54-6CF3-4AA2-C1107FF44872}"/>
              </a:ext>
            </a:extLst>
          </p:cNvPr>
          <p:cNvPicPr>
            <a:picLocks noChangeAspect="1"/>
          </p:cNvPicPr>
          <p:nvPr/>
        </p:nvPicPr>
        <p:blipFill>
          <a:blip r:embed="rId2"/>
          <a:stretch>
            <a:fillRect/>
          </a:stretch>
        </p:blipFill>
        <p:spPr>
          <a:xfrm>
            <a:off x="3295085" y="2864137"/>
            <a:ext cx="4294217" cy="848108"/>
          </a:xfrm>
          <a:prstGeom prst="rect">
            <a:avLst/>
          </a:prstGeom>
        </p:spPr>
      </p:pic>
    </p:spTree>
    <p:extLst>
      <p:ext uri="{BB962C8B-B14F-4D97-AF65-F5344CB8AC3E}">
        <p14:creationId xmlns:p14="http://schemas.microsoft.com/office/powerpoint/2010/main" val="16829754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E0AD0-B7F9-60F3-D6DE-5A70B01648CE}"/>
              </a:ext>
            </a:extLst>
          </p:cNvPr>
          <p:cNvSpPr>
            <a:spLocks noGrp="1"/>
          </p:cNvSpPr>
          <p:nvPr>
            <p:ph type="title"/>
          </p:nvPr>
        </p:nvSpPr>
        <p:spPr/>
        <p:txBody>
          <a:bodyPr/>
          <a:lstStyle/>
          <a:p>
            <a:r>
              <a:rPr lang="en-IN" b="1" dirty="0"/>
              <a:t>Polynomial Regression</a:t>
            </a:r>
          </a:p>
        </p:txBody>
      </p:sp>
      <p:sp>
        <p:nvSpPr>
          <p:cNvPr id="3" name="Content Placeholder 2">
            <a:extLst>
              <a:ext uri="{FF2B5EF4-FFF2-40B4-BE49-F238E27FC236}">
                <a16:creationId xmlns:a16="http://schemas.microsoft.com/office/drawing/2014/main" id="{D2C155C1-1780-7816-19CB-F2762FE06C14}"/>
              </a:ext>
            </a:extLst>
          </p:cNvPr>
          <p:cNvSpPr>
            <a:spLocks noGrp="1"/>
          </p:cNvSpPr>
          <p:nvPr>
            <p:ph idx="1"/>
          </p:nvPr>
        </p:nvSpPr>
        <p:spPr/>
        <p:txBody>
          <a:bodyPr/>
          <a:lstStyle/>
          <a:p>
            <a:r>
              <a:rPr lang="en-US" dirty="0"/>
              <a:t>Polynomial regression is an extension of linear regression, where the relationship between the independent variable and the dependent variable is modeled as an nth-degree polynomial. </a:t>
            </a:r>
          </a:p>
          <a:p>
            <a:r>
              <a:rPr lang="en-US" dirty="0"/>
              <a:t>This is useful when the relationship between the variables is nonlinear</a:t>
            </a:r>
            <a:endParaRPr lang="en-IN" dirty="0"/>
          </a:p>
        </p:txBody>
      </p:sp>
      <p:pic>
        <p:nvPicPr>
          <p:cNvPr id="5" name="Picture 4">
            <a:extLst>
              <a:ext uri="{FF2B5EF4-FFF2-40B4-BE49-F238E27FC236}">
                <a16:creationId xmlns:a16="http://schemas.microsoft.com/office/drawing/2014/main" id="{36391AB0-8842-FDFD-C4BA-E1FB5ED63194}"/>
              </a:ext>
            </a:extLst>
          </p:cNvPr>
          <p:cNvPicPr>
            <a:picLocks noChangeAspect="1"/>
          </p:cNvPicPr>
          <p:nvPr/>
        </p:nvPicPr>
        <p:blipFill>
          <a:blip r:embed="rId2"/>
          <a:stretch>
            <a:fillRect/>
          </a:stretch>
        </p:blipFill>
        <p:spPr>
          <a:xfrm>
            <a:off x="3138907" y="4083488"/>
            <a:ext cx="4579781" cy="848108"/>
          </a:xfrm>
          <a:prstGeom prst="rect">
            <a:avLst/>
          </a:prstGeom>
        </p:spPr>
      </p:pic>
    </p:spTree>
    <p:extLst>
      <p:ext uri="{BB962C8B-B14F-4D97-AF65-F5344CB8AC3E}">
        <p14:creationId xmlns:p14="http://schemas.microsoft.com/office/powerpoint/2010/main" val="38155959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55E9F997-70D3-A175-95BD-8CC9473CA485}"/>
              </a:ext>
            </a:extLst>
          </p:cNvPr>
          <p:cNvSpPr>
            <a:spLocks noGrp="1"/>
          </p:cNvSpPr>
          <p:nvPr>
            <p:ph idx="1"/>
          </p:nvPr>
        </p:nvSpPr>
        <p:spPr/>
        <p:txBody>
          <a:bodyPr/>
          <a:lstStyle/>
          <a:p>
            <a:endParaRPr lang="en-IN"/>
          </a:p>
        </p:txBody>
      </p:sp>
      <p:pic>
        <p:nvPicPr>
          <p:cNvPr id="9" name="Picture 8">
            <a:extLst>
              <a:ext uri="{FF2B5EF4-FFF2-40B4-BE49-F238E27FC236}">
                <a16:creationId xmlns:a16="http://schemas.microsoft.com/office/drawing/2014/main" id="{25FEA9A5-95BC-AE85-09AC-D8D2CA31D36B}"/>
              </a:ext>
            </a:extLst>
          </p:cNvPr>
          <p:cNvPicPr>
            <a:picLocks noChangeAspect="1"/>
          </p:cNvPicPr>
          <p:nvPr/>
        </p:nvPicPr>
        <p:blipFill>
          <a:blip r:embed="rId2"/>
          <a:stretch>
            <a:fillRect/>
          </a:stretch>
        </p:blipFill>
        <p:spPr>
          <a:xfrm>
            <a:off x="863343" y="1059114"/>
            <a:ext cx="11328657" cy="4739771"/>
          </a:xfrm>
          <a:prstGeom prst="rect">
            <a:avLst/>
          </a:prstGeom>
        </p:spPr>
      </p:pic>
    </p:spTree>
    <p:extLst>
      <p:ext uri="{BB962C8B-B14F-4D97-AF65-F5344CB8AC3E}">
        <p14:creationId xmlns:p14="http://schemas.microsoft.com/office/powerpoint/2010/main" val="35055159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AB208-3D49-688C-E48A-D51D1AFB8AFF}"/>
              </a:ext>
            </a:extLst>
          </p:cNvPr>
          <p:cNvSpPr>
            <a:spLocks noGrp="1"/>
          </p:cNvSpPr>
          <p:nvPr>
            <p:ph type="title"/>
          </p:nvPr>
        </p:nvSpPr>
        <p:spPr/>
        <p:txBody>
          <a:bodyPr/>
          <a:lstStyle/>
          <a:p>
            <a:r>
              <a:rPr lang="en-IN" b="1" dirty="0"/>
              <a:t>K-Nearest Neighbours (KNN) Regression</a:t>
            </a:r>
          </a:p>
        </p:txBody>
      </p:sp>
      <p:sp>
        <p:nvSpPr>
          <p:cNvPr id="3" name="Content Placeholder 2">
            <a:extLst>
              <a:ext uri="{FF2B5EF4-FFF2-40B4-BE49-F238E27FC236}">
                <a16:creationId xmlns:a16="http://schemas.microsoft.com/office/drawing/2014/main" id="{5DCDB155-E20A-197E-8C07-0092B08AAA3E}"/>
              </a:ext>
            </a:extLst>
          </p:cNvPr>
          <p:cNvSpPr>
            <a:spLocks noGrp="1"/>
          </p:cNvSpPr>
          <p:nvPr>
            <p:ph idx="1"/>
          </p:nvPr>
        </p:nvSpPr>
        <p:spPr>
          <a:xfrm>
            <a:off x="838200" y="1838068"/>
            <a:ext cx="10515600" cy="4351338"/>
          </a:xfrm>
        </p:spPr>
        <p:txBody>
          <a:bodyPr/>
          <a:lstStyle/>
          <a:p>
            <a:r>
              <a:rPr lang="en-US" dirty="0"/>
              <a:t>K-Nearest Neighbors (KNN) is a non-parametric regression method that predicts the value of a target variable (e.g., wind speed or power output) based on the values of the k-nearest neighbors.</a:t>
            </a:r>
          </a:p>
          <a:p>
            <a:endParaRPr lang="en-US" dirty="0"/>
          </a:p>
          <a:p>
            <a:endParaRPr lang="en-US" dirty="0"/>
          </a:p>
          <a:p>
            <a:endParaRPr lang="en-US" dirty="0"/>
          </a:p>
          <a:p>
            <a:r>
              <a:rPr lang="en-US" dirty="0"/>
              <a:t>Simple model for short-term wind speed forecasting.</a:t>
            </a:r>
          </a:p>
          <a:p>
            <a:endParaRPr lang="en-IN" dirty="0"/>
          </a:p>
        </p:txBody>
      </p:sp>
      <p:pic>
        <p:nvPicPr>
          <p:cNvPr id="5" name="Picture 4">
            <a:extLst>
              <a:ext uri="{FF2B5EF4-FFF2-40B4-BE49-F238E27FC236}">
                <a16:creationId xmlns:a16="http://schemas.microsoft.com/office/drawing/2014/main" id="{E7F64EEF-B04C-F767-E824-2BC81EED9212}"/>
              </a:ext>
            </a:extLst>
          </p:cNvPr>
          <p:cNvPicPr>
            <a:picLocks noChangeAspect="1"/>
          </p:cNvPicPr>
          <p:nvPr/>
        </p:nvPicPr>
        <p:blipFill>
          <a:blip r:embed="rId2"/>
          <a:stretch>
            <a:fillRect/>
          </a:stretch>
        </p:blipFill>
        <p:spPr>
          <a:xfrm>
            <a:off x="4039652" y="3594485"/>
            <a:ext cx="2854308" cy="838505"/>
          </a:xfrm>
          <a:prstGeom prst="rect">
            <a:avLst/>
          </a:prstGeom>
        </p:spPr>
      </p:pic>
    </p:spTree>
    <p:extLst>
      <p:ext uri="{BB962C8B-B14F-4D97-AF65-F5344CB8AC3E}">
        <p14:creationId xmlns:p14="http://schemas.microsoft.com/office/powerpoint/2010/main" val="2207664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2340EB-CDC9-5789-2809-F001B3A64060}"/>
              </a:ext>
            </a:extLst>
          </p:cNvPr>
          <p:cNvSpPr>
            <a:spLocks noGrp="1"/>
          </p:cNvSpPr>
          <p:nvPr>
            <p:ph idx="1"/>
          </p:nvPr>
        </p:nvSpPr>
        <p:spPr>
          <a:xfrm>
            <a:off x="838200" y="818758"/>
            <a:ext cx="10515600" cy="4351338"/>
          </a:xfrm>
        </p:spPr>
        <p:txBody>
          <a:bodyPr/>
          <a:lstStyle/>
          <a:p>
            <a:r>
              <a:rPr lang="en-US" dirty="0"/>
              <a:t>For a given input, the distances to all other points in the dataset are calculated.</a:t>
            </a:r>
          </a:p>
          <a:p>
            <a:r>
              <a:rPr lang="en-US" dirty="0"/>
              <a:t>Then, k-nearest points (neighbors) are selected based on the calculated distances.</a:t>
            </a:r>
          </a:p>
          <a:p>
            <a:r>
              <a:rPr lang="en-US" dirty="0"/>
              <a:t>The predicted value is the average (or weighted average) of the target values of the k-nearest neighbors</a:t>
            </a:r>
            <a:endParaRPr lang="en-IN" dirty="0"/>
          </a:p>
        </p:txBody>
      </p:sp>
      <p:pic>
        <p:nvPicPr>
          <p:cNvPr id="5" name="Picture 4">
            <a:extLst>
              <a:ext uri="{FF2B5EF4-FFF2-40B4-BE49-F238E27FC236}">
                <a16:creationId xmlns:a16="http://schemas.microsoft.com/office/drawing/2014/main" id="{B4A597E8-6CBE-DA0E-E10A-EE23D2B1B931}"/>
              </a:ext>
            </a:extLst>
          </p:cNvPr>
          <p:cNvPicPr>
            <a:picLocks noChangeAspect="1"/>
          </p:cNvPicPr>
          <p:nvPr/>
        </p:nvPicPr>
        <p:blipFill>
          <a:blip r:embed="rId2"/>
          <a:stretch>
            <a:fillRect/>
          </a:stretch>
        </p:blipFill>
        <p:spPr>
          <a:xfrm>
            <a:off x="2977595" y="3872676"/>
            <a:ext cx="5116782" cy="2166566"/>
          </a:xfrm>
          <a:prstGeom prst="rect">
            <a:avLst/>
          </a:prstGeom>
        </p:spPr>
      </p:pic>
    </p:spTree>
    <p:extLst>
      <p:ext uri="{BB962C8B-B14F-4D97-AF65-F5344CB8AC3E}">
        <p14:creationId xmlns:p14="http://schemas.microsoft.com/office/powerpoint/2010/main" val="6585844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471D0-0468-A342-337F-F6C7D0B3AE2D}"/>
              </a:ext>
            </a:extLst>
          </p:cNvPr>
          <p:cNvSpPr>
            <a:spLocks noGrp="1"/>
          </p:cNvSpPr>
          <p:nvPr>
            <p:ph type="title"/>
          </p:nvPr>
        </p:nvSpPr>
        <p:spPr>
          <a:xfrm>
            <a:off x="745733" y="97604"/>
            <a:ext cx="10515600" cy="1325563"/>
          </a:xfrm>
        </p:spPr>
        <p:txBody>
          <a:bodyPr/>
          <a:lstStyle/>
          <a:p>
            <a:r>
              <a:rPr lang="en-IN" b="1" dirty="0"/>
              <a:t>Artificial Neural Network</a:t>
            </a:r>
            <a:endParaRPr lang="en-IN" dirty="0"/>
          </a:p>
        </p:txBody>
      </p:sp>
      <p:sp>
        <p:nvSpPr>
          <p:cNvPr id="3" name="Content Placeholder 2">
            <a:extLst>
              <a:ext uri="{FF2B5EF4-FFF2-40B4-BE49-F238E27FC236}">
                <a16:creationId xmlns:a16="http://schemas.microsoft.com/office/drawing/2014/main" id="{D1BBCC95-B520-8B05-72B7-E736BB1A9762}"/>
              </a:ext>
            </a:extLst>
          </p:cNvPr>
          <p:cNvSpPr>
            <a:spLocks noGrp="1"/>
          </p:cNvSpPr>
          <p:nvPr>
            <p:ph idx="1"/>
          </p:nvPr>
        </p:nvSpPr>
        <p:spPr>
          <a:xfrm>
            <a:off x="838200" y="1232899"/>
            <a:ext cx="10515600" cy="4944064"/>
          </a:xfrm>
        </p:spPr>
        <p:txBody>
          <a:bodyPr>
            <a:normAutofit/>
          </a:bodyPr>
          <a:lstStyle/>
          <a:p>
            <a:r>
              <a:rPr lang="en-US" sz="2400" dirty="0"/>
              <a:t>An Artificial Neural Network (ANN) is a computational model inspired by the structure and functioning of biological neural networks. It is composed of layers of interconnected nodes (neurons) that process data and learn patterns through training.</a:t>
            </a:r>
          </a:p>
          <a:p>
            <a:pPr marL="0" indent="0">
              <a:buNone/>
            </a:pPr>
            <a:r>
              <a:rPr lang="en-US" sz="2400" dirty="0"/>
              <a:t>Key Components of an ANN:</a:t>
            </a:r>
          </a:p>
          <a:p>
            <a:pPr marL="457200" indent="-457200">
              <a:buFont typeface="+mj-lt"/>
              <a:buAutoNum type="arabicPeriod"/>
            </a:pPr>
            <a:r>
              <a:rPr lang="en-US" sz="2400" b="1" dirty="0"/>
              <a:t>Input Layer</a:t>
            </a:r>
            <a:r>
              <a:rPr lang="en-US" sz="2400" dirty="0"/>
              <a:t>: The first layer receives the input features (e.g., Wind Speed, Wind Direction).Each input is represented as a node, and the number of nodes equals the number of features.</a:t>
            </a:r>
          </a:p>
          <a:p>
            <a:pPr marL="457200" indent="-457200">
              <a:buFont typeface="+mj-lt"/>
              <a:buAutoNum type="arabicPeriod"/>
            </a:pPr>
            <a:endParaRPr lang="en-US" sz="2400" dirty="0"/>
          </a:p>
          <a:p>
            <a:pPr marL="457200" indent="-457200">
              <a:buFont typeface="+mj-lt"/>
              <a:buAutoNum type="arabicPeriod"/>
            </a:pPr>
            <a:r>
              <a:rPr lang="en-US" sz="2400" b="1" dirty="0"/>
              <a:t>Hidden Layers</a:t>
            </a:r>
            <a:r>
              <a:rPr lang="en-US" sz="2400" dirty="0"/>
              <a:t>: Layers between the input and output layers. Perform transformations on the input data using weights, biases, and activation functions.  Hidden layers allow the network to learn complex relationships in the data.</a:t>
            </a:r>
            <a:endParaRPr lang="en-IN" sz="2400" dirty="0"/>
          </a:p>
        </p:txBody>
      </p:sp>
    </p:spTree>
    <p:extLst>
      <p:ext uri="{BB962C8B-B14F-4D97-AF65-F5344CB8AC3E}">
        <p14:creationId xmlns:p14="http://schemas.microsoft.com/office/powerpoint/2010/main" val="29477919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B95AC4-3B03-450A-1047-23B3F58D8D43}"/>
              </a:ext>
            </a:extLst>
          </p:cNvPr>
          <p:cNvSpPr>
            <a:spLocks noGrp="1"/>
          </p:cNvSpPr>
          <p:nvPr>
            <p:ph idx="1"/>
          </p:nvPr>
        </p:nvSpPr>
        <p:spPr>
          <a:xfrm>
            <a:off x="838200" y="571687"/>
            <a:ext cx="10515600" cy="5714626"/>
          </a:xfrm>
        </p:spPr>
        <p:txBody>
          <a:bodyPr>
            <a:normAutofit/>
          </a:bodyPr>
          <a:lstStyle/>
          <a:p>
            <a:pPr marL="0" indent="0">
              <a:buNone/>
            </a:pPr>
            <a:r>
              <a:rPr lang="en-US" sz="2400" b="1" dirty="0"/>
              <a:t>Output</a:t>
            </a:r>
            <a:r>
              <a:rPr lang="en-US" sz="2400" dirty="0"/>
              <a:t> </a:t>
            </a:r>
            <a:r>
              <a:rPr lang="en-US" sz="2400" b="1" dirty="0"/>
              <a:t>Layer</a:t>
            </a:r>
            <a:r>
              <a:rPr lang="en-US" sz="2400" dirty="0"/>
              <a:t>: Produces the final prediction or classification result.</a:t>
            </a:r>
          </a:p>
          <a:p>
            <a:pPr marL="0" indent="0">
              <a:buNone/>
            </a:pPr>
            <a:endParaRPr lang="en-US" sz="2400" dirty="0"/>
          </a:p>
          <a:p>
            <a:pPr marL="0" indent="0">
              <a:buNone/>
            </a:pPr>
            <a:r>
              <a:rPr lang="en-IN" sz="2400" b="1" dirty="0"/>
              <a:t>Activation Functions</a:t>
            </a:r>
            <a:r>
              <a:rPr lang="en-IN" sz="2400" dirty="0"/>
              <a:t>: Introduce non-linearity to allow the network to learn complex patterns.</a:t>
            </a:r>
          </a:p>
          <a:p>
            <a:pPr marL="0" indent="0">
              <a:buNone/>
            </a:pPr>
            <a:r>
              <a:rPr lang="en-IN" sz="2400" dirty="0"/>
              <a:t>Common functions : </a:t>
            </a:r>
            <a:r>
              <a:rPr lang="en-IN" sz="2400" dirty="0" err="1"/>
              <a:t>ReLU</a:t>
            </a:r>
            <a:r>
              <a:rPr lang="en-IN" sz="2400" dirty="0"/>
              <a:t>, Sigmoid,​ Linear.</a:t>
            </a:r>
          </a:p>
        </p:txBody>
      </p:sp>
    </p:spTree>
    <p:extLst>
      <p:ext uri="{BB962C8B-B14F-4D97-AF65-F5344CB8AC3E}">
        <p14:creationId xmlns:p14="http://schemas.microsoft.com/office/powerpoint/2010/main" val="21393978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20BA2-8F07-D2EE-E87E-ECD7EE4DEC6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6FA34AF-D342-41AD-C138-BCBD6FD5D693}"/>
              </a:ext>
            </a:extLst>
          </p:cNvPr>
          <p:cNvPicPr>
            <a:picLocks noChangeAspect="1"/>
          </p:cNvPicPr>
          <p:nvPr/>
        </p:nvPicPr>
        <p:blipFill>
          <a:blip r:embed="rId2"/>
          <a:stretch>
            <a:fillRect/>
          </a:stretch>
        </p:blipFill>
        <p:spPr>
          <a:xfrm>
            <a:off x="1562041" y="1319890"/>
            <a:ext cx="6647011" cy="1339860"/>
          </a:xfrm>
          <a:prstGeom prst="rect">
            <a:avLst/>
          </a:prstGeom>
        </p:spPr>
      </p:pic>
      <p:pic>
        <p:nvPicPr>
          <p:cNvPr id="7" name="Picture 6">
            <a:extLst>
              <a:ext uri="{FF2B5EF4-FFF2-40B4-BE49-F238E27FC236}">
                <a16:creationId xmlns:a16="http://schemas.microsoft.com/office/drawing/2014/main" id="{D620F755-D264-AA1E-BFAF-FDFC86AEE6B5}"/>
              </a:ext>
            </a:extLst>
          </p:cNvPr>
          <p:cNvPicPr>
            <a:picLocks noChangeAspect="1"/>
          </p:cNvPicPr>
          <p:nvPr/>
        </p:nvPicPr>
        <p:blipFill>
          <a:blip r:embed="rId3"/>
          <a:stretch>
            <a:fillRect/>
          </a:stretch>
        </p:blipFill>
        <p:spPr>
          <a:xfrm>
            <a:off x="1705879" y="3996838"/>
            <a:ext cx="7038037" cy="1446658"/>
          </a:xfrm>
          <a:prstGeom prst="rect">
            <a:avLst/>
          </a:prstGeom>
        </p:spPr>
      </p:pic>
      <p:sp>
        <p:nvSpPr>
          <p:cNvPr id="12" name="TextBox 11">
            <a:extLst>
              <a:ext uri="{FF2B5EF4-FFF2-40B4-BE49-F238E27FC236}">
                <a16:creationId xmlns:a16="http://schemas.microsoft.com/office/drawing/2014/main" id="{BA129E2D-07D7-A5ED-4A3E-A6AAD7BE6101}"/>
              </a:ext>
            </a:extLst>
          </p:cNvPr>
          <p:cNvSpPr txBox="1"/>
          <p:nvPr/>
        </p:nvSpPr>
        <p:spPr>
          <a:xfrm>
            <a:off x="1346284" y="548548"/>
            <a:ext cx="2828403" cy="461665"/>
          </a:xfrm>
          <a:prstGeom prst="rect">
            <a:avLst/>
          </a:prstGeom>
          <a:noFill/>
        </p:spPr>
        <p:txBody>
          <a:bodyPr wrap="none" rtlCol="0">
            <a:spAutoFit/>
          </a:bodyPr>
          <a:lstStyle/>
          <a:p>
            <a:r>
              <a:rPr lang="en-IN" sz="2400" dirty="0"/>
              <a:t>1)Data preprocessing</a:t>
            </a:r>
          </a:p>
        </p:txBody>
      </p:sp>
      <p:sp>
        <p:nvSpPr>
          <p:cNvPr id="15" name="TextBox 14">
            <a:extLst>
              <a:ext uri="{FF2B5EF4-FFF2-40B4-BE49-F238E27FC236}">
                <a16:creationId xmlns:a16="http://schemas.microsoft.com/office/drawing/2014/main" id="{85FA2CC4-2D26-19EE-DA4D-F3717F26ED33}"/>
              </a:ext>
            </a:extLst>
          </p:cNvPr>
          <p:cNvSpPr txBox="1"/>
          <p:nvPr/>
        </p:nvSpPr>
        <p:spPr>
          <a:xfrm>
            <a:off x="1394391" y="3357081"/>
            <a:ext cx="6097712" cy="461665"/>
          </a:xfrm>
          <a:prstGeom prst="rect">
            <a:avLst/>
          </a:prstGeom>
          <a:noFill/>
        </p:spPr>
        <p:txBody>
          <a:bodyPr wrap="square">
            <a:spAutoFit/>
          </a:bodyPr>
          <a:lstStyle/>
          <a:p>
            <a:r>
              <a:rPr lang="en-IN" sz="2400" dirty="0"/>
              <a:t>2)Data scaling</a:t>
            </a:r>
          </a:p>
        </p:txBody>
      </p:sp>
    </p:spTree>
    <p:extLst>
      <p:ext uri="{BB962C8B-B14F-4D97-AF65-F5344CB8AC3E}">
        <p14:creationId xmlns:p14="http://schemas.microsoft.com/office/powerpoint/2010/main" val="12138181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DBC887F-C053-C558-F6D8-1A4FA08B506E}"/>
              </a:ext>
            </a:extLst>
          </p:cNvPr>
          <p:cNvPicPr>
            <a:picLocks noChangeAspect="1"/>
          </p:cNvPicPr>
          <p:nvPr/>
        </p:nvPicPr>
        <p:blipFill>
          <a:blip r:embed="rId2"/>
          <a:stretch>
            <a:fillRect/>
          </a:stretch>
        </p:blipFill>
        <p:spPr>
          <a:xfrm>
            <a:off x="2089503" y="5017771"/>
            <a:ext cx="4426177" cy="1016052"/>
          </a:xfrm>
          <a:prstGeom prst="rect">
            <a:avLst/>
          </a:prstGeom>
        </p:spPr>
      </p:pic>
      <p:pic>
        <p:nvPicPr>
          <p:cNvPr id="9" name="Content Placeholder 8">
            <a:extLst>
              <a:ext uri="{FF2B5EF4-FFF2-40B4-BE49-F238E27FC236}">
                <a16:creationId xmlns:a16="http://schemas.microsoft.com/office/drawing/2014/main" id="{3515C11A-6777-1746-5C0D-ED9619C48BE7}"/>
              </a:ext>
            </a:extLst>
          </p:cNvPr>
          <p:cNvPicPr>
            <a:picLocks noGrp="1" noChangeAspect="1"/>
          </p:cNvPicPr>
          <p:nvPr>
            <p:ph idx="1"/>
          </p:nvPr>
        </p:nvPicPr>
        <p:blipFill>
          <a:blip r:embed="rId3"/>
          <a:stretch>
            <a:fillRect/>
          </a:stretch>
        </p:blipFill>
        <p:spPr>
          <a:xfrm>
            <a:off x="2089502" y="1324146"/>
            <a:ext cx="5588287" cy="2457576"/>
          </a:xfrm>
          <a:prstGeom prst="rect">
            <a:avLst/>
          </a:prstGeom>
        </p:spPr>
      </p:pic>
      <p:sp>
        <p:nvSpPr>
          <p:cNvPr id="5" name="TextBox 4">
            <a:extLst>
              <a:ext uri="{FF2B5EF4-FFF2-40B4-BE49-F238E27FC236}">
                <a16:creationId xmlns:a16="http://schemas.microsoft.com/office/drawing/2014/main" id="{16CD9521-8CAF-0C83-44AA-C9F01CAFD8BF}"/>
              </a:ext>
            </a:extLst>
          </p:cNvPr>
          <p:cNvSpPr txBox="1"/>
          <p:nvPr/>
        </p:nvSpPr>
        <p:spPr>
          <a:xfrm>
            <a:off x="1834791" y="708189"/>
            <a:ext cx="6097712" cy="461665"/>
          </a:xfrm>
          <a:prstGeom prst="rect">
            <a:avLst/>
          </a:prstGeom>
          <a:noFill/>
        </p:spPr>
        <p:txBody>
          <a:bodyPr wrap="square">
            <a:spAutoFit/>
          </a:bodyPr>
          <a:lstStyle/>
          <a:p>
            <a:r>
              <a:rPr lang="en-IN" sz="2400" dirty="0"/>
              <a:t>3) Building the ANN model</a:t>
            </a:r>
          </a:p>
        </p:txBody>
      </p:sp>
      <p:sp>
        <p:nvSpPr>
          <p:cNvPr id="7" name="TextBox 6">
            <a:extLst>
              <a:ext uri="{FF2B5EF4-FFF2-40B4-BE49-F238E27FC236}">
                <a16:creationId xmlns:a16="http://schemas.microsoft.com/office/drawing/2014/main" id="{25C51BA7-DE5E-ECC5-233E-22A8E27D7D0A}"/>
              </a:ext>
            </a:extLst>
          </p:cNvPr>
          <p:cNvSpPr txBox="1"/>
          <p:nvPr/>
        </p:nvSpPr>
        <p:spPr>
          <a:xfrm>
            <a:off x="1834790" y="4401814"/>
            <a:ext cx="6097712" cy="461665"/>
          </a:xfrm>
          <a:prstGeom prst="rect">
            <a:avLst/>
          </a:prstGeom>
          <a:noFill/>
        </p:spPr>
        <p:txBody>
          <a:bodyPr wrap="square">
            <a:spAutoFit/>
          </a:bodyPr>
          <a:lstStyle/>
          <a:p>
            <a:r>
              <a:rPr lang="en-IN" sz="2400" dirty="0"/>
              <a:t>4) Predictions and evaluation's</a:t>
            </a:r>
          </a:p>
        </p:txBody>
      </p:sp>
    </p:spTree>
    <p:extLst>
      <p:ext uri="{BB962C8B-B14F-4D97-AF65-F5344CB8AC3E}">
        <p14:creationId xmlns:p14="http://schemas.microsoft.com/office/powerpoint/2010/main" val="9715536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2239A-9C05-03B4-8B5F-AA0D4EE26867}"/>
              </a:ext>
            </a:extLst>
          </p:cNvPr>
          <p:cNvSpPr>
            <a:spLocks noGrp="1"/>
          </p:cNvSpPr>
          <p:nvPr>
            <p:ph type="title"/>
          </p:nvPr>
        </p:nvSpPr>
        <p:spPr/>
        <p:txBody>
          <a:bodyPr>
            <a:normAutofit fontScale="90000"/>
          </a:bodyPr>
          <a:lstStyle/>
          <a:p>
            <a:br>
              <a:rPr lang="en-IN" dirty="0"/>
            </a:br>
            <a:r>
              <a:rPr lang="en-IN" b="1" dirty="0"/>
              <a:t>Recurrent Neural Network (RNN)</a:t>
            </a:r>
            <a:br>
              <a:rPr lang="en-IN" b="1" dirty="0"/>
            </a:br>
            <a:endParaRPr lang="en-IN" dirty="0"/>
          </a:p>
        </p:txBody>
      </p:sp>
      <p:sp>
        <p:nvSpPr>
          <p:cNvPr id="3" name="Content Placeholder 2">
            <a:extLst>
              <a:ext uri="{FF2B5EF4-FFF2-40B4-BE49-F238E27FC236}">
                <a16:creationId xmlns:a16="http://schemas.microsoft.com/office/drawing/2014/main" id="{9320FC91-4D76-424A-59C2-2CB8F00A8E07}"/>
              </a:ext>
            </a:extLst>
          </p:cNvPr>
          <p:cNvSpPr>
            <a:spLocks noGrp="1"/>
          </p:cNvSpPr>
          <p:nvPr>
            <p:ph idx="1"/>
          </p:nvPr>
        </p:nvSpPr>
        <p:spPr>
          <a:xfrm>
            <a:off x="838200" y="1690688"/>
            <a:ext cx="10515600" cy="4486275"/>
          </a:xfrm>
        </p:spPr>
        <p:txBody>
          <a:bodyPr>
            <a:normAutofit/>
          </a:bodyPr>
          <a:lstStyle/>
          <a:p>
            <a:r>
              <a:rPr lang="en-US" sz="2400" dirty="0"/>
              <a:t>A Recurrent Neural Network (RNN) is a type of artificial neural network designed for sequential data. Unlike traditional ANNs, RNNs can handle temporal dependencies by maintaining a hidden state that carries information across time steps.</a:t>
            </a:r>
            <a:endParaRPr lang="en-IN" sz="2400" dirty="0"/>
          </a:p>
        </p:txBody>
      </p:sp>
      <p:pic>
        <p:nvPicPr>
          <p:cNvPr id="5" name="Picture 4">
            <a:extLst>
              <a:ext uri="{FF2B5EF4-FFF2-40B4-BE49-F238E27FC236}">
                <a16:creationId xmlns:a16="http://schemas.microsoft.com/office/drawing/2014/main" id="{95317CAD-6231-9C41-4002-C204915BDDF4}"/>
              </a:ext>
            </a:extLst>
          </p:cNvPr>
          <p:cNvPicPr>
            <a:picLocks noChangeAspect="1"/>
          </p:cNvPicPr>
          <p:nvPr/>
        </p:nvPicPr>
        <p:blipFill>
          <a:blip r:embed="rId2"/>
          <a:stretch>
            <a:fillRect/>
          </a:stretch>
        </p:blipFill>
        <p:spPr>
          <a:xfrm>
            <a:off x="1837958" y="4323138"/>
            <a:ext cx="6445581" cy="1314518"/>
          </a:xfrm>
          <a:prstGeom prst="rect">
            <a:avLst/>
          </a:prstGeom>
        </p:spPr>
      </p:pic>
      <p:sp>
        <p:nvSpPr>
          <p:cNvPr id="7" name="TextBox 6">
            <a:extLst>
              <a:ext uri="{FF2B5EF4-FFF2-40B4-BE49-F238E27FC236}">
                <a16:creationId xmlns:a16="http://schemas.microsoft.com/office/drawing/2014/main" id="{16BF678A-D16E-5AD7-BE4C-A90626EC68E6}"/>
              </a:ext>
            </a:extLst>
          </p:cNvPr>
          <p:cNvSpPr txBox="1"/>
          <p:nvPr/>
        </p:nvSpPr>
        <p:spPr>
          <a:xfrm>
            <a:off x="1528280" y="3672215"/>
            <a:ext cx="6097712" cy="523220"/>
          </a:xfrm>
          <a:prstGeom prst="rect">
            <a:avLst/>
          </a:prstGeom>
          <a:noFill/>
        </p:spPr>
        <p:txBody>
          <a:bodyPr wrap="square">
            <a:spAutoFit/>
          </a:bodyPr>
          <a:lstStyle/>
          <a:p>
            <a:r>
              <a:rPr lang="en-IN" sz="2800" dirty="0"/>
              <a:t>1)Data preprocessing</a:t>
            </a:r>
          </a:p>
        </p:txBody>
      </p:sp>
    </p:spTree>
    <p:extLst>
      <p:ext uri="{BB962C8B-B14F-4D97-AF65-F5344CB8AC3E}">
        <p14:creationId xmlns:p14="http://schemas.microsoft.com/office/powerpoint/2010/main" val="25262602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0F6E77E-79B5-1C9F-94D2-9D1E6E755D2D}"/>
              </a:ext>
            </a:extLst>
          </p:cNvPr>
          <p:cNvPicPr>
            <a:picLocks noChangeAspect="1"/>
          </p:cNvPicPr>
          <p:nvPr/>
        </p:nvPicPr>
        <p:blipFill>
          <a:blip r:embed="rId2"/>
          <a:stretch>
            <a:fillRect/>
          </a:stretch>
        </p:blipFill>
        <p:spPr>
          <a:xfrm>
            <a:off x="25149" y="1730987"/>
            <a:ext cx="5607338" cy="1130358"/>
          </a:xfrm>
          <a:prstGeom prst="rect">
            <a:avLst/>
          </a:prstGeom>
        </p:spPr>
      </p:pic>
      <p:pic>
        <p:nvPicPr>
          <p:cNvPr id="7" name="Picture 6">
            <a:extLst>
              <a:ext uri="{FF2B5EF4-FFF2-40B4-BE49-F238E27FC236}">
                <a16:creationId xmlns:a16="http://schemas.microsoft.com/office/drawing/2014/main" id="{C17A6144-2A73-65FF-F3F3-B3AD5EB2E468}"/>
              </a:ext>
            </a:extLst>
          </p:cNvPr>
          <p:cNvPicPr>
            <a:picLocks noChangeAspect="1"/>
          </p:cNvPicPr>
          <p:nvPr/>
        </p:nvPicPr>
        <p:blipFill>
          <a:blip r:embed="rId3"/>
          <a:stretch>
            <a:fillRect/>
          </a:stretch>
        </p:blipFill>
        <p:spPr>
          <a:xfrm>
            <a:off x="4952628" y="1501407"/>
            <a:ext cx="7239372" cy="2571882"/>
          </a:xfrm>
          <a:prstGeom prst="rect">
            <a:avLst/>
          </a:prstGeom>
        </p:spPr>
      </p:pic>
      <p:pic>
        <p:nvPicPr>
          <p:cNvPr id="9" name="Picture 8">
            <a:extLst>
              <a:ext uri="{FF2B5EF4-FFF2-40B4-BE49-F238E27FC236}">
                <a16:creationId xmlns:a16="http://schemas.microsoft.com/office/drawing/2014/main" id="{AE372B53-D338-C670-F619-DAB2D12F6F07}"/>
              </a:ext>
            </a:extLst>
          </p:cNvPr>
          <p:cNvPicPr>
            <a:picLocks noChangeAspect="1"/>
          </p:cNvPicPr>
          <p:nvPr/>
        </p:nvPicPr>
        <p:blipFill>
          <a:blip r:embed="rId4"/>
          <a:stretch>
            <a:fillRect/>
          </a:stretch>
        </p:blipFill>
        <p:spPr>
          <a:xfrm>
            <a:off x="703512" y="5056119"/>
            <a:ext cx="5645440" cy="977950"/>
          </a:xfrm>
          <a:prstGeom prst="rect">
            <a:avLst/>
          </a:prstGeom>
        </p:spPr>
      </p:pic>
      <p:sp>
        <p:nvSpPr>
          <p:cNvPr id="11" name="TextBox 10">
            <a:extLst>
              <a:ext uri="{FF2B5EF4-FFF2-40B4-BE49-F238E27FC236}">
                <a16:creationId xmlns:a16="http://schemas.microsoft.com/office/drawing/2014/main" id="{58972CBC-04C5-8316-70E8-BB12A849F597}"/>
              </a:ext>
            </a:extLst>
          </p:cNvPr>
          <p:cNvSpPr txBox="1"/>
          <p:nvPr/>
        </p:nvSpPr>
        <p:spPr>
          <a:xfrm>
            <a:off x="0" y="1112540"/>
            <a:ext cx="6097712" cy="523220"/>
          </a:xfrm>
          <a:prstGeom prst="rect">
            <a:avLst/>
          </a:prstGeom>
          <a:noFill/>
        </p:spPr>
        <p:txBody>
          <a:bodyPr wrap="square">
            <a:spAutoFit/>
          </a:bodyPr>
          <a:lstStyle/>
          <a:p>
            <a:r>
              <a:rPr lang="en-IN" sz="2800" dirty="0"/>
              <a:t>2)Data scaling</a:t>
            </a:r>
          </a:p>
        </p:txBody>
      </p:sp>
      <p:sp>
        <p:nvSpPr>
          <p:cNvPr id="13" name="TextBox 12">
            <a:extLst>
              <a:ext uri="{FF2B5EF4-FFF2-40B4-BE49-F238E27FC236}">
                <a16:creationId xmlns:a16="http://schemas.microsoft.com/office/drawing/2014/main" id="{73446777-A407-C357-B609-C8CA1EEBA979}"/>
              </a:ext>
            </a:extLst>
          </p:cNvPr>
          <p:cNvSpPr txBox="1"/>
          <p:nvPr/>
        </p:nvSpPr>
        <p:spPr>
          <a:xfrm>
            <a:off x="4872147" y="978187"/>
            <a:ext cx="6097712" cy="523220"/>
          </a:xfrm>
          <a:prstGeom prst="rect">
            <a:avLst/>
          </a:prstGeom>
          <a:noFill/>
        </p:spPr>
        <p:txBody>
          <a:bodyPr wrap="square">
            <a:spAutoFit/>
          </a:bodyPr>
          <a:lstStyle/>
          <a:p>
            <a:r>
              <a:rPr lang="en-IN" sz="2800" dirty="0"/>
              <a:t>3) Building the RNN model</a:t>
            </a:r>
          </a:p>
        </p:txBody>
      </p:sp>
      <p:sp>
        <p:nvSpPr>
          <p:cNvPr id="15" name="TextBox 14">
            <a:extLst>
              <a:ext uri="{FF2B5EF4-FFF2-40B4-BE49-F238E27FC236}">
                <a16:creationId xmlns:a16="http://schemas.microsoft.com/office/drawing/2014/main" id="{91B2D4A5-D007-2F5A-82CC-02A4BD39EAE9}"/>
              </a:ext>
            </a:extLst>
          </p:cNvPr>
          <p:cNvSpPr txBox="1"/>
          <p:nvPr/>
        </p:nvSpPr>
        <p:spPr>
          <a:xfrm>
            <a:off x="477376" y="4460191"/>
            <a:ext cx="6097712" cy="523220"/>
          </a:xfrm>
          <a:prstGeom prst="rect">
            <a:avLst/>
          </a:prstGeom>
          <a:noFill/>
        </p:spPr>
        <p:txBody>
          <a:bodyPr wrap="square">
            <a:spAutoFit/>
          </a:bodyPr>
          <a:lstStyle/>
          <a:p>
            <a:r>
              <a:rPr lang="en-IN" sz="2800" dirty="0"/>
              <a:t>4) Predictions and evaluation's</a:t>
            </a:r>
          </a:p>
        </p:txBody>
      </p:sp>
    </p:spTree>
    <p:extLst>
      <p:ext uri="{BB962C8B-B14F-4D97-AF65-F5344CB8AC3E}">
        <p14:creationId xmlns:p14="http://schemas.microsoft.com/office/powerpoint/2010/main" val="5499306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D1898-E9E0-368F-A3E4-B3AD3145FB05}"/>
              </a:ext>
            </a:extLst>
          </p:cNvPr>
          <p:cNvSpPr>
            <a:spLocks noGrp="1"/>
          </p:cNvSpPr>
          <p:nvPr>
            <p:ph type="title"/>
          </p:nvPr>
        </p:nvSpPr>
        <p:spPr/>
        <p:txBody>
          <a:bodyPr/>
          <a:lstStyle/>
          <a:p>
            <a:r>
              <a:rPr lang="en-IN" b="1" dirty="0"/>
              <a:t>Wind Dataset</a:t>
            </a:r>
          </a:p>
        </p:txBody>
      </p:sp>
      <p:sp>
        <p:nvSpPr>
          <p:cNvPr id="5" name="Rectangle 2">
            <a:extLst>
              <a:ext uri="{FF2B5EF4-FFF2-40B4-BE49-F238E27FC236}">
                <a16:creationId xmlns:a16="http://schemas.microsoft.com/office/drawing/2014/main" id="{3B525BCF-B0E5-C405-627F-AA5D224758DA}"/>
              </a:ext>
            </a:extLst>
          </p:cNvPr>
          <p:cNvSpPr>
            <a:spLocks noGrp="1" noChangeArrowheads="1"/>
          </p:cNvSpPr>
          <p:nvPr>
            <p:ph idx="1"/>
          </p:nvPr>
        </p:nvSpPr>
        <p:spPr bwMode="auto">
          <a:xfrm>
            <a:off x="838200" y="1753031"/>
            <a:ext cx="1092571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Time</a:t>
            </a:r>
            <a:r>
              <a:rPr kumimoji="0" lang="en-US" altLang="en-US" sz="2400" b="0" i="0" u="none" strike="noStrike" cap="none" normalizeH="0" baseline="0" dirty="0">
                <a:ln>
                  <a:noFill/>
                </a:ln>
                <a:solidFill>
                  <a:schemeClr val="tx1"/>
                </a:solidFill>
                <a:effectLst/>
                <a:latin typeface="Arial" panose="020B0604020202020204" pitchFamily="34" charset="0"/>
              </a:rPr>
              <a:t>: Timestamps of the observations.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temperature_2m</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a:ln>
                  <a:noFill/>
                </a:ln>
                <a:solidFill>
                  <a:schemeClr val="tx1"/>
                </a:solidFill>
                <a:effectLst/>
                <a:latin typeface="Arial" panose="020B0604020202020204" pitchFamily="34" charset="0"/>
              </a:rPr>
              <a:t>relativehumidity_2m</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a:ln>
                  <a:noFill/>
                </a:ln>
                <a:solidFill>
                  <a:schemeClr val="tx1"/>
                </a:solidFill>
                <a:effectLst/>
                <a:latin typeface="Arial" panose="020B0604020202020204" pitchFamily="34" charset="0"/>
              </a:rPr>
              <a:t>dewpoint_2m</a:t>
            </a:r>
            <a:r>
              <a:rPr kumimoji="0" lang="en-US" altLang="en-US" sz="2400" b="0" i="0" u="none" strike="noStrike" cap="none" normalizeH="0" baseline="0" dirty="0">
                <a:ln>
                  <a:noFill/>
                </a:ln>
                <a:solidFill>
                  <a:schemeClr val="tx1"/>
                </a:solidFill>
                <a:effectLst/>
                <a:latin typeface="Arial" panose="020B0604020202020204" pitchFamily="34" charset="0"/>
              </a:rPr>
              <a:t>: Meteorological parameters.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windspeed_10m</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a:ln>
                  <a:noFill/>
                </a:ln>
                <a:solidFill>
                  <a:schemeClr val="tx1"/>
                </a:solidFill>
                <a:effectLst/>
                <a:latin typeface="Arial" panose="020B0604020202020204" pitchFamily="34" charset="0"/>
              </a:rPr>
              <a:t>windspeed_100m</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a:ln>
                  <a:noFill/>
                </a:ln>
                <a:solidFill>
                  <a:schemeClr val="tx1"/>
                </a:solidFill>
                <a:effectLst/>
                <a:latin typeface="Arial" panose="020B0604020202020204" pitchFamily="34" charset="0"/>
              </a:rPr>
              <a:t>winddirection_10m</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a:ln>
                  <a:noFill/>
                </a:ln>
                <a:solidFill>
                  <a:schemeClr val="tx1"/>
                </a:solidFill>
                <a:effectLst/>
                <a:latin typeface="Arial" panose="020B0604020202020204" pitchFamily="34" charset="0"/>
              </a:rPr>
              <a:t>winddirection_100m</a:t>
            </a:r>
            <a:r>
              <a:rPr kumimoji="0" lang="en-US" altLang="en-US" sz="2400" b="0" i="0" u="none" strike="noStrike" cap="none" normalizeH="0" baseline="0" dirty="0">
                <a:ln>
                  <a:noFill/>
                </a:ln>
                <a:solidFill>
                  <a:schemeClr val="tx1"/>
                </a:solidFill>
                <a:effectLst/>
                <a:latin typeface="Arial" panose="020B0604020202020204" pitchFamily="34" charset="0"/>
              </a:rPr>
              <a:t>: Wind characteristics.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windgusts_10m</a:t>
            </a:r>
            <a:r>
              <a:rPr kumimoji="0" lang="en-US" altLang="en-US" sz="2400" b="0" i="0" u="none" strike="noStrike" cap="none" normalizeH="0" baseline="0" dirty="0">
                <a:ln>
                  <a:noFill/>
                </a:ln>
                <a:solidFill>
                  <a:schemeClr val="tx1"/>
                </a:solidFill>
                <a:effectLst/>
                <a:latin typeface="Arial" panose="020B0604020202020204" pitchFamily="34" charset="0"/>
              </a:rPr>
              <a:t>: Wind gust data.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Power</a:t>
            </a:r>
            <a:r>
              <a:rPr kumimoji="0" lang="en-US" altLang="en-US" sz="2400" b="0" i="0" u="none" strike="noStrike" cap="none" normalizeH="0" baseline="0" dirty="0">
                <a:ln>
                  <a:noFill/>
                </a:ln>
                <a:solidFill>
                  <a:schemeClr val="tx1"/>
                </a:solidFill>
                <a:effectLst/>
                <a:latin typeface="Arial" panose="020B0604020202020204" pitchFamily="34" charset="0"/>
              </a:rPr>
              <a:t>: Target variable representing wind power generation. </a:t>
            </a:r>
          </a:p>
        </p:txBody>
      </p:sp>
    </p:spTree>
    <p:extLst>
      <p:ext uri="{BB962C8B-B14F-4D97-AF65-F5344CB8AC3E}">
        <p14:creationId xmlns:p14="http://schemas.microsoft.com/office/powerpoint/2010/main" val="7493281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C855A-697A-520D-78B7-1EC542E382B1}"/>
              </a:ext>
            </a:extLst>
          </p:cNvPr>
          <p:cNvSpPr>
            <a:spLocks noGrp="1"/>
          </p:cNvSpPr>
          <p:nvPr>
            <p:ph type="title"/>
          </p:nvPr>
        </p:nvSpPr>
        <p:spPr/>
        <p:txBody>
          <a:bodyPr/>
          <a:lstStyle/>
          <a:p>
            <a:r>
              <a:rPr lang="en-IN" dirty="0"/>
              <a:t>AR model</a:t>
            </a:r>
          </a:p>
        </p:txBody>
      </p:sp>
      <p:pic>
        <p:nvPicPr>
          <p:cNvPr id="2054" name="Picture 6">
            <a:extLst>
              <a:ext uri="{FF2B5EF4-FFF2-40B4-BE49-F238E27FC236}">
                <a16:creationId xmlns:a16="http://schemas.microsoft.com/office/drawing/2014/main" id="{00B57B23-E9F7-381C-D663-6E36D99EEC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1796" y="1690688"/>
            <a:ext cx="6581775" cy="52101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FF34B20-3E93-C931-6686-146DC4CCE11D}"/>
              </a:ext>
            </a:extLst>
          </p:cNvPr>
          <p:cNvSpPr txBox="1"/>
          <p:nvPr/>
        </p:nvSpPr>
        <p:spPr>
          <a:xfrm>
            <a:off x="8322068" y="3105834"/>
            <a:ext cx="2879314" cy="646331"/>
          </a:xfrm>
          <a:prstGeom prst="rect">
            <a:avLst/>
          </a:prstGeom>
          <a:noFill/>
        </p:spPr>
        <p:txBody>
          <a:bodyPr wrap="none" rtlCol="0">
            <a:spAutoFit/>
          </a:bodyPr>
          <a:lstStyle/>
          <a:p>
            <a:r>
              <a:rPr lang="en-IN" dirty="0"/>
              <a:t>MAE:0.3872976416569316</a:t>
            </a:r>
          </a:p>
          <a:p>
            <a:r>
              <a:rPr lang="en-IN" dirty="0"/>
              <a:t>MSE: 0.18614891212323528</a:t>
            </a:r>
          </a:p>
        </p:txBody>
      </p:sp>
    </p:spTree>
    <p:extLst>
      <p:ext uri="{BB962C8B-B14F-4D97-AF65-F5344CB8AC3E}">
        <p14:creationId xmlns:p14="http://schemas.microsoft.com/office/powerpoint/2010/main" val="5014441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E533A-1631-3B6D-01D4-26A7B2196906}"/>
              </a:ext>
            </a:extLst>
          </p:cNvPr>
          <p:cNvSpPr>
            <a:spLocks noGrp="1"/>
          </p:cNvSpPr>
          <p:nvPr>
            <p:ph type="title"/>
          </p:nvPr>
        </p:nvSpPr>
        <p:spPr/>
        <p:txBody>
          <a:bodyPr/>
          <a:lstStyle/>
          <a:p>
            <a:r>
              <a:rPr lang="en-IN" dirty="0"/>
              <a:t>MA model</a:t>
            </a:r>
          </a:p>
        </p:txBody>
      </p:sp>
      <p:pic>
        <p:nvPicPr>
          <p:cNvPr id="3074" name="Picture 2">
            <a:extLst>
              <a:ext uri="{FF2B5EF4-FFF2-40B4-BE49-F238E27FC236}">
                <a16:creationId xmlns:a16="http://schemas.microsoft.com/office/drawing/2014/main" id="{87B4DA4C-731A-6E63-C716-B2C47D5589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0295" y="1471185"/>
            <a:ext cx="6581775" cy="52101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8CA0F64-3669-7518-C0C7-1FA6CFB43594}"/>
              </a:ext>
            </a:extLst>
          </p:cNvPr>
          <p:cNvSpPr txBox="1"/>
          <p:nvPr/>
        </p:nvSpPr>
        <p:spPr>
          <a:xfrm>
            <a:off x="8744165" y="3216527"/>
            <a:ext cx="3038261" cy="646331"/>
          </a:xfrm>
          <a:prstGeom prst="rect">
            <a:avLst/>
          </a:prstGeom>
          <a:noFill/>
        </p:spPr>
        <p:txBody>
          <a:bodyPr wrap="square" rtlCol="0">
            <a:spAutoFit/>
          </a:bodyPr>
          <a:lstStyle/>
          <a:p>
            <a:r>
              <a:rPr lang="en-IN" dirty="0"/>
              <a:t>MAE:0.3502214174949668 </a:t>
            </a:r>
          </a:p>
          <a:p>
            <a:r>
              <a:rPr lang="en-IN" dirty="0"/>
              <a:t>MSE:0.15849120315731516</a:t>
            </a:r>
          </a:p>
        </p:txBody>
      </p:sp>
    </p:spTree>
    <p:extLst>
      <p:ext uri="{BB962C8B-B14F-4D97-AF65-F5344CB8AC3E}">
        <p14:creationId xmlns:p14="http://schemas.microsoft.com/office/powerpoint/2010/main" val="10474908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6E83C-6D2D-D448-82D3-E0CFADEF28FB}"/>
              </a:ext>
            </a:extLst>
          </p:cNvPr>
          <p:cNvSpPr>
            <a:spLocks noGrp="1"/>
          </p:cNvSpPr>
          <p:nvPr>
            <p:ph type="title"/>
          </p:nvPr>
        </p:nvSpPr>
        <p:spPr/>
        <p:txBody>
          <a:bodyPr/>
          <a:lstStyle/>
          <a:p>
            <a:r>
              <a:rPr lang="en-IN" dirty="0"/>
              <a:t>ARMA model</a:t>
            </a:r>
          </a:p>
        </p:txBody>
      </p:sp>
      <p:pic>
        <p:nvPicPr>
          <p:cNvPr id="1026" name="Picture 2">
            <a:extLst>
              <a:ext uri="{FF2B5EF4-FFF2-40B4-BE49-F238E27FC236}">
                <a16:creationId xmlns:a16="http://schemas.microsoft.com/office/drawing/2014/main" id="{E2DBBC11-FAB4-07C6-6BBB-742F04C5EF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2345" y="1503987"/>
            <a:ext cx="6581775" cy="52101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6A6DE9D-150C-4444-9348-0FF4789A0272}"/>
              </a:ext>
            </a:extLst>
          </p:cNvPr>
          <p:cNvSpPr txBox="1"/>
          <p:nvPr/>
        </p:nvSpPr>
        <p:spPr>
          <a:xfrm>
            <a:off x="8148264" y="2958957"/>
            <a:ext cx="3708113" cy="646331"/>
          </a:xfrm>
          <a:prstGeom prst="rect">
            <a:avLst/>
          </a:prstGeom>
          <a:noFill/>
        </p:spPr>
        <p:txBody>
          <a:bodyPr wrap="square" rtlCol="0">
            <a:spAutoFit/>
          </a:bodyPr>
          <a:lstStyle/>
          <a:p>
            <a:r>
              <a:rPr lang="en-IN" dirty="0"/>
              <a:t>MAE:0.38152531170897397 </a:t>
            </a:r>
          </a:p>
          <a:p>
            <a:r>
              <a:rPr lang="en-IN" dirty="0"/>
              <a:t>MSE:0.18169296699993592</a:t>
            </a:r>
          </a:p>
        </p:txBody>
      </p:sp>
    </p:spTree>
    <p:extLst>
      <p:ext uri="{BB962C8B-B14F-4D97-AF65-F5344CB8AC3E}">
        <p14:creationId xmlns:p14="http://schemas.microsoft.com/office/powerpoint/2010/main" val="41768075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4D2E9-FC4E-15DF-4F1A-AC9FF18986ED}"/>
              </a:ext>
            </a:extLst>
          </p:cNvPr>
          <p:cNvSpPr>
            <a:spLocks noGrp="1"/>
          </p:cNvSpPr>
          <p:nvPr>
            <p:ph type="title"/>
          </p:nvPr>
        </p:nvSpPr>
        <p:spPr/>
        <p:txBody>
          <a:bodyPr/>
          <a:lstStyle/>
          <a:p>
            <a:r>
              <a:rPr lang="en-IN" dirty="0"/>
              <a:t>Linear Regression</a:t>
            </a:r>
          </a:p>
        </p:txBody>
      </p:sp>
      <p:pic>
        <p:nvPicPr>
          <p:cNvPr id="5128" name="Picture 8">
            <a:extLst>
              <a:ext uri="{FF2B5EF4-FFF2-40B4-BE49-F238E27FC236}">
                <a16:creationId xmlns:a16="http://schemas.microsoft.com/office/drawing/2014/main" id="{8813EDBF-EDB9-F437-4AA6-F97291D940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790" y="2161138"/>
            <a:ext cx="7679290" cy="415076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1945A13-F169-6DF7-0EC5-8C739D4A5AF3}"/>
              </a:ext>
            </a:extLst>
          </p:cNvPr>
          <p:cNvSpPr txBox="1"/>
          <p:nvPr/>
        </p:nvSpPr>
        <p:spPr>
          <a:xfrm>
            <a:off x="8332342" y="3429000"/>
            <a:ext cx="3417868" cy="646331"/>
          </a:xfrm>
          <a:prstGeom prst="rect">
            <a:avLst/>
          </a:prstGeom>
          <a:noFill/>
        </p:spPr>
        <p:txBody>
          <a:bodyPr wrap="square" rtlCol="0">
            <a:spAutoFit/>
          </a:bodyPr>
          <a:lstStyle/>
          <a:p>
            <a:r>
              <a:rPr lang="en-IN" dirty="0"/>
              <a:t>MAE: 0.14062722008259482</a:t>
            </a:r>
          </a:p>
          <a:p>
            <a:r>
              <a:rPr lang="en-IN" dirty="0"/>
              <a:t>MSE: 0.03179257274279978</a:t>
            </a:r>
          </a:p>
        </p:txBody>
      </p:sp>
    </p:spTree>
    <p:extLst>
      <p:ext uri="{BB962C8B-B14F-4D97-AF65-F5344CB8AC3E}">
        <p14:creationId xmlns:p14="http://schemas.microsoft.com/office/powerpoint/2010/main" val="6301683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EE8A1-8AD4-061D-1F6F-0CB199E8248C}"/>
              </a:ext>
            </a:extLst>
          </p:cNvPr>
          <p:cNvSpPr>
            <a:spLocks noGrp="1"/>
          </p:cNvSpPr>
          <p:nvPr>
            <p:ph type="title"/>
          </p:nvPr>
        </p:nvSpPr>
        <p:spPr/>
        <p:txBody>
          <a:bodyPr/>
          <a:lstStyle/>
          <a:p>
            <a:r>
              <a:rPr lang="en-IN" dirty="0"/>
              <a:t>Polynomial regression</a:t>
            </a:r>
          </a:p>
        </p:txBody>
      </p:sp>
      <p:pic>
        <p:nvPicPr>
          <p:cNvPr id="1026" name="Picture 2">
            <a:extLst>
              <a:ext uri="{FF2B5EF4-FFF2-40B4-BE49-F238E27FC236}">
                <a16:creationId xmlns:a16="http://schemas.microsoft.com/office/drawing/2014/main" id="{443C615D-A23F-4A7C-21FB-C6D2D7192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4343" y="1585992"/>
            <a:ext cx="6686550" cy="521017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2FF13387-9403-CCEE-2CB2-96036236128E}"/>
              </a:ext>
            </a:extLst>
          </p:cNvPr>
          <p:cNvSpPr txBox="1"/>
          <p:nvPr/>
        </p:nvSpPr>
        <p:spPr>
          <a:xfrm>
            <a:off x="8421587" y="2876764"/>
            <a:ext cx="2932213" cy="646331"/>
          </a:xfrm>
          <a:prstGeom prst="rect">
            <a:avLst/>
          </a:prstGeom>
          <a:noFill/>
        </p:spPr>
        <p:txBody>
          <a:bodyPr wrap="none" rtlCol="0">
            <a:spAutoFit/>
          </a:bodyPr>
          <a:lstStyle/>
          <a:p>
            <a:r>
              <a:rPr lang="en-IN" dirty="0"/>
              <a:t>MAE: 0.1364707130404405</a:t>
            </a:r>
          </a:p>
          <a:p>
            <a:r>
              <a:rPr lang="en-IN" dirty="0"/>
              <a:t>MSE: 0.03016331267520909</a:t>
            </a:r>
          </a:p>
        </p:txBody>
      </p:sp>
    </p:spTree>
    <p:extLst>
      <p:ext uri="{BB962C8B-B14F-4D97-AF65-F5344CB8AC3E}">
        <p14:creationId xmlns:p14="http://schemas.microsoft.com/office/powerpoint/2010/main" val="32152235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58B55-910A-1E5C-2F80-6FC05E839F22}"/>
              </a:ext>
            </a:extLst>
          </p:cNvPr>
          <p:cNvSpPr>
            <a:spLocks noGrp="1"/>
          </p:cNvSpPr>
          <p:nvPr>
            <p:ph type="title"/>
          </p:nvPr>
        </p:nvSpPr>
        <p:spPr/>
        <p:txBody>
          <a:bodyPr/>
          <a:lstStyle/>
          <a:p>
            <a:r>
              <a:rPr lang="en-IN" dirty="0"/>
              <a:t>KNN</a:t>
            </a:r>
          </a:p>
        </p:txBody>
      </p:sp>
      <p:pic>
        <p:nvPicPr>
          <p:cNvPr id="4098" name="Picture 2">
            <a:extLst>
              <a:ext uri="{FF2B5EF4-FFF2-40B4-BE49-F238E27FC236}">
                <a16:creationId xmlns:a16="http://schemas.microsoft.com/office/drawing/2014/main" id="{F4768F3E-EEFE-8E1D-06BD-84377933A89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70701" y="2141537"/>
            <a:ext cx="7962868" cy="435133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DC8BD6D-B803-BB6E-B468-1ABCED24237F}"/>
              </a:ext>
            </a:extLst>
          </p:cNvPr>
          <p:cNvSpPr txBox="1"/>
          <p:nvPr/>
        </p:nvSpPr>
        <p:spPr>
          <a:xfrm>
            <a:off x="8611622" y="3429000"/>
            <a:ext cx="3183111" cy="646331"/>
          </a:xfrm>
          <a:prstGeom prst="rect">
            <a:avLst/>
          </a:prstGeom>
          <a:noFill/>
        </p:spPr>
        <p:txBody>
          <a:bodyPr wrap="square" rtlCol="0">
            <a:spAutoFit/>
          </a:bodyPr>
          <a:lstStyle/>
          <a:p>
            <a:r>
              <a:rPr lang="en-IN" dirty="0"/>
              <a:t>MAE: 0.08232827194767997, MSE: 0.013860315955656203</a:t>
            </a:r>
          </a:p>
        </p:txBody>
      </p:sp>
    </p:spTree>
    <p:extLst>
      <p:ext uri="{BB962C8B-B14F-4D97-AF65-F5344CB8AC3E}">
        <p14:creationId xmlns:p14="http://schemas.microsoft.com/office/powerpoint/2010/main" val="9944392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7C49D-13E1-FA5C-A9F1-963AF437B34E}"/>
              </a:ext>
            </a:extLst>
          </p:cNvPr>
          <p:cNvSpPr>
            <a:spLocks noGrp="1"/>
          </p:cNvSpPr>
          <p:nvPr>
            <p:ph type="title"/>
          </p:nvPr>
        </p:nvSpPr>
        <p:spPr/>
        <p:txBody>
          <a:bodyPr/>
          <a:lstStyle/>
          <a:p>
            <a:r>
              <a:rPr lang="en-IN" dirty="0"/>
              <a:t>Random Forest</a:t>
            </a:r>
          </a:p>
        </p:txBody>
      </p:sp>
      <p:pic>
        <p:nvPicPr>
          <p:cNvPr id="6146" name="Picture 2">
            <a:extLst>
              <a:ext uri="{FF2B5EF4-FFF2-40B4-BE49-F238E27FC236}">
                <a16:creationId xmlns:a16="http://schemas.microsoft.com/office/drawing/2014/main" id="{C8E326ED-6860-AC80-794E-5B6646CC98F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83717" y="1887270"/>
            <a:ext cx="7526417" cy="411283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EDE9860-FA0A-AAD3-ACCC-38E564FE6F41}"/>
              </a:ext>
            </a:extLst>
          </p:cNvPr>
          <p:cNvSpPr txBox="1"/>
          <p:nvPr/>
        </p:nvSpPr>
        <p:spPr>
          <a:xfrm>
            <a:off x="8209908" y="3297358"/>
            <a:ext cx="3143892" cy="646331"/>
          </a:xfrm>
          <a:prstGeom prst="rect">
            <a:avLst/>
          </a:prstGeom>
          <a:noFill/>
        </p:spPr>
        <p:txBody>
          <a:bodyPr wrap="square" rtlCol="0">
            <a:spAutoFit/>
          </a:bodyPr>
          <a:lstStyle/>
          <a:p>
            <a:r>
              <a:rPr lang="en-IN" dirty="0"/>
              <a:t>MAE: 0.13101288285711257</a:t>
            </a:r>
          </a:p>
          <a:p>
            <a:r>
              <a:rPr lang="en-IN" dirty="0"/>
              <a:t>MSE: 0.03265215317967408</a:t>
            </a:r>
          </a:p>
        </p:txBody>
      </p:sp>
    </p:spTree>
    <p:extLst>
      <p:ext uri="{BB962C8B-B14F-4D97-AF65-F5344CB8AC3E}">
        <p14:creationId xmlns:p14="http://schemas.microsoft.com/office/powerpoint/2010/main" val="32240752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91AC9-4FC5-3EAC-09BC-3E711020AF16}"/>
              </a:ext>
            </a:extLst>
          </p:cNvPr>
          <p:cNvSpPr>
            <a:spLocks noGrp="1"/>
          </p:cNvSpPr>
          <p:nvPr>
            <p:ph type="title"/>
          </p:nvPr>
        </p:nvSpPr>
        <p:spPr>
          <a:xfrm>
            <a:off x="488878" y="0"/>
            <a:ext cx="10515600" cy="1325563"/>
          </a:xfrm>
        </p:spPr>
        <p:txBody>
          <a:bodyPr/>
          <a:lstStyle/>
          <a:p>
            <a:r>
              <a:rPr lang="en-IN" b="1" dirty="0"/>
              <a:t>Summary of Statistical models</a:t>
            </a:r>
            <a:endParaRPr lang="en-IN" dirty="0"/>
          </a:p>
        </p:txBody>
      </p:sp>
      <p:sp>
        <p:nvSpPr>
          <p:cNvPr id="3" name="Content Placeholder 2">
            <a:extLst>
              <a:ext uri="{FF2B5EF4-FFF2-40B4-BE49-F238E27FC236}">
                <a16:creationId xmlns:a16="http://schemas.microsoft.com/office/drawing/2014/main" id="{020E53A9-9FD9-C902-CD29-8B4CF6558535}"/>
              </a:ext>
            </a:extLst>
          </p:cNvPr>
          <p:cNvSpPr>
            <a:spLocks noGrp="1"/>
          </p:cNvSpPr>
          <p:nvPr>
            <p:ph idx="1"/>
          </p:nvPr>
        </p:nvSpPr>
        <p:spPr>
          <a:xfrm>
            <a:off x="488878" y="1140431"/>
            <a:ext cx="11110645" cy="5568593"/>
          </a:xfrm>
        </p:spPr>
        <p:txBody>
          <a:bodyPr>
            <a:normAutofit fontScale="77500" lnSpcReduction="20000"/>
          </a:bodyPr>
          <a:lstStyle/>
          <a:p>
            <a:pPr marL="0" indent="0">
              <a:lnSpc>
                <a:spcPct val="120000"/>
              </a:lnSpc>
              <a:buNone/>
            </a:pPr>
            <a:r>
              <a:rPr lang="en-US" b="1" dirty="0"/>
              <a:t>Autoregressive (AR)</a:t>
            </a:r>
          </a:p>
          <a:p>
            <a:pPr>
              <a:lnSpc>
                <a:spcPct val="120000"/>
              </a:lnSpc>
            </a:pPr>
            <a:r>
              <a:rPr lang="en-US" dirty="0"/>
              <a:t>MAE: 0.3873, MSE: 0.1861</a:t>
            </a:r>
          </a:p>
          <a:p>
            <a:pPr>
              <a:lnSpc>
                <a:spcPct val="120000"/>
              </a:lnSpc>
            </a:pPr>
            <a:r>
              <a:rPr lang="en-US" dirty="0"/>
              <a:t>The AR model relies only on the past values of the target variable (Power). Its performance indicates it has the highest errors (both MAE and MSE) compared to the other models.</a:t>
            </a:r>
          </a:p>
          <a:p>
            <a:pPr marL="0" indent="0">
              <a:lnSpc>
                <a:spcPct val="120000"/>
              </a:lnSpc>
              <a:buNone/>
            </a:pPr>
            <a:r>
              <a:rPr lang="en-US" b="1" dirty="0"/>
              <a:t>Moving Average (MA)</a:t>
            </a:r>
          </a:p>
          <a:p>
            <a:pPr>
              <a:lnSpc>
                <a:spcPct val="120000"/>
              </a:lnSpc>
            </a:pPr>
            <a:r>
              <a:rPr lang="en-US" dirty="0"/>
              <a:t>MAE: 0.3502, MSE: 0.1585</a:t>
            </a:r>
          </a:p>
          <a:p>
            <a:pPr>
              <a:lnSpc>
                <a:spcPct val="120000"/>
              </a:lnSpc>
            </a:pPr>
            <a:r>
              <a:rPr lang="en-US" dirty="0"/>
              <a:t>The MA model, which uses past error terms for prediction, performs the best among the three models. Its lower errors suggest that the noise or residuals in the data are relatively less.</a:t>
            </a:r>
          </a:p>
          <a:p>
            <a:pPr marL="0" indent="0">
              <a:lnSpc>
                <a:spcPct val="120000"/>
              </a:lnSpc>
              <a:buNone/>
            </a:pPr>
            <a:r>
              <a:rPr lang="en-US" b="1" dirty="0"/>
              <a:t>ARMA Model</a:t>
            </a:r>
          </a:p>
          <a:p>
            <a:pPr>
              <a:lnSpc>
                <a:spcPct val="120000"/>
              </a:lnSpc>
            </a:pPr>
            <a:r>
              <a:rPr lang="en-US" dirty="0"/>
              <a:t>MAE: 0.3815, MSE: 0.1817</a:t>
            </a:r>
          </a:p>
          <a:p>
            <a:pPr>
              <a:lnSpc>
                <a:spcPct val="120000"/>
              </a:lnSpc>
            </a:pPr>
            <a:r>
              <a:rPr lang="en-US" dirty="0"/>
              <a:t>The ARMA model combines both the AR and MA components. Its performance lies between the AR and MA models, indicating that adding autoregressive components didn’t significantly improve predictions over the MA model.</a:t>
            </a:r>
            <a:endParaRPr lang="en-IN" dirty="0"/>
          </a:p>
        </p:txBody>
      </p:sp>
    </p:spTree>
    <p:extLst>
      <p:ext uri="{BB962C8B-B14F-4D97-AF65-F5344CB8AC3E}">
        <p14:creationId xmlns:p14="http://schemas.microsoft.com/office/powerpoint/2010/main" val="39848428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BF7E2B-73E5-D9DC-8289-01BC10AF266F}"/>
              </a:ext>
            </a:extLst>
          </p:cNvPr>
          <p:cNvSpPr>
            <a:spLocks noGrp="1"/>
          </p:cNvSpPr>
          <p:nvPr>
            <p:ph idx="1"/>
          </p:nvPr>
        </p:nvSpPr>
        <p:spPr>
          <a:xfrm>
            <a:off x="488879" y="557373"/>
            <a:ext cx="10515600" cy="5743254"/>
          </a:xfrm>
        </p:spPr>
        <p:txBody>
          <a:bodyPr>
            <a:noAutofit/>
          </a:bodyPr>
          <a:lstStyle/>
          <a:p>
            <a:pPr marL="0" indent="0">
              <a:lnSpc>
                <a:spcPct val="100000"/>
              </a:lnSpc>
              <a:buNone/>
            </a:pPr>
            <a:r>
              <a:rPr lang="en-US" sz="2000" b="1" dirty="0"/>
              <a:t>Linear Regression</a:t>
            </a:r>
            <a:r>
              <a:rPr lang="en-US" sz="2000" dirty="0"/>
              <a:t>:</a:t>
            </a:r>
          </a:p>
          <a:p>
            <a:pPr>
              <a:lnSpc>
                <a:spcPct val="100000"/>
              </a:lnSpc>
            </a:pPr>
            <a:r>
              <a:rPr lang="en-US" sz="2000" dirty="0"/>
              <a:t>Mean Absolute Error (MAE): 0.1406</a:t>
            </a:r>
          </a:p>
          <a:p>
            <a:pPr>
              <a:lnSpc>
                <a:spcPct val="100000"/>
              </a:lnSpc>
            </a:pPr>
            <a:r>
              <a:rPr lang="en-US" sz="2000" dirty="0"/>
              <a:t>Mean Squared Error (MSE): 0.0318</a:t>
            </a:r>
          </a:p>
          <a:p>
            <a:pPr>
              <a:lnSpc>
                <a:spcPct val="100000"/>
              </a:lnSpc>
            </a:pPr>
            <a:r>
              <a:rPr lang="en-US" sz="2000" dirty="0"/>
              <a:t>Simple and interpretable but has higher errors compared to some other models.</a:t>
            </a:r>
          </a:p>
          <a:p>
            <a:pPr marL="0" indent="0">
              <a:lnSpc>
                <a:spcPct val="100000"/>
              </a:lnSpc>
              <a:buNone/>
            </a:pPr>
            <a:r>
              <a:rPr lang="en-US" sz="2000" b="1" dirty="0"/>
              <a:t>Polynomial Regression</a:t>
            </a:r>
            <a:r>
              <a:rPr lang="en-US" sz="2000" dirty="0"/>
              <a:t>:</a:t>
            </a:r>
          </a:p>
          <a:p>
            <a:pPr>
              <a:lnSpc>
                <a:spcPct val="100000"/>
              </a:lnSpc>
            </a:pPr>
            <a:r>
              <a:rPr lang="en-US" sz="2000" dirty="0"/>
              <a:t>MAE: 0.1365</a:t>
            </a:r>
          </a:p>
          <a:p>
            <a:pPr>
              <a:lnSpc>
                <a:spcPct val="100000"/>
              </a:lnSpc>
            </a:pPr>
            <a:r>
              <a:rPr lang="en-US" sz="2000" dirty="0"/>
              <a:t>MSE: 0.0302</a:t>
            </a:r>
          </a:p>
          <a:p>
            <a:pPr>
              <a:lnSpc>
                <a:spcPct val="100000"/>
              </a:lnSpc>
            </a:pPr>
            <a:r>
              <a:rPr lang="en-US" sz="2000" dirty="0"/>
              <a:t>Improves upon Linear Regression by capturing non-linear relationships, leading to slightly better performance.</a:t>
            </a:r>
          </a:p>
          <a:p>
            <a:pPr marL="0" indent="0">
              <a:lnSpc>
                <a:spcPct val="100000"/>
              </a:lnSpc>
              <a:buNone/>
            </a:pPr>
            <a:r>
              <a:rPr lang="en-US" sz="2000" b="1" dirty="0"/>
              <a:t>K-Nearest Neighbors (KNN</a:t>
            </a:r>
            <a:r>
              <a:rPr lang="en-US" sz="2000" dirty="0"/>
              <a:t>):</a:t>
            </a:r>
          </a:p>
          <a:p>
            <a:pPr>
              <a:lnSpc>
                <a:spcPct val="100000"/>
              </a:lnSpc>
            </a:pPr>
            <a:r>
              <a:rPr lang="en-US" sz="2000" dirty="0"/>
              <a:t>MAE: 0.0823</a:t>
            </a:r>
          </a:p>
          <a:p>
            <a:pPr>
              <a:lnSpc>
                <a:spcPct val="100000"/>
              </a:lnSpc>
            </a:pPr>
            <a:r>
              <a:rPr lang="en-US" sz="2000" dirty="0"/>
              <a:t>MSE: 0.0139</a:t>
            </a:r>
          </a:p>
          <a:p>
            <a:pPr>
              <a:lnSpc>
                <a:spcPct val="100000"/>
              </a:lnSpc>
            </a:pPr>
            <a:r>
              <a:rPr lang="en-US" sz="2000" dirty="0"/>
              <a:t>Achieves the lowest errors among the models tested, indicating high accuracy for this specific prediction task. However, it might be computationally intensive for large datasets.</a:t>
            </a:r>
            <a:endParaRPr lang="en-IN" sz="2000" dirty="0"/>
          </a:p>
        </p:txBody>
      </p:sp>
    </p:spTree>
    <p:extLst>
      <p:ext uri="{BB962C8B-B14F-4D97-AF65-F5344CB8AC3E}">
        <p14:creationId xmlns:p14="http://schemas.microsoft.com/office/powerpoint/2010/main" val="35106905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46B2FB-792C-C94A-60D1-22E0583EC2A9}"/>
              </a:ext>
            </a:extLst>
          </p:cNvPr>
          <p:cNvSpPr>
            <a:spLocks noGrp="1"/>
          </p:cNvSpPr>
          <p:nvPr>
            <p:ph idx="1"/>
          </p:nvPr>
        </p:nvSpPr>
        <p:spPr>
          <a:xfrm>
            <a:off x="838200" y="256854"/>
            <a:ext cx="10515600" cy="5920109"/>
          </a:xfrm>
        </p:spPr>
        <p:txBody>
          <a:bodyPr>
            <a:normAutofit/>
          </a:bodyPr>
          <a:lstStyle/>
          <a:p>
            <a:pPr marL="0" indent="0">
              <a:buNone/>
            </a:pPr>
            <a:r>
              <a:rPr lang="en-US" sz="2000" b="1" dirty="0"/>
              <a:t>Random Forest</a:t>
            </a:r>
            <a:r>
              <a:rPr lang="en-US" sz="2000" dirty="0"/>
              <a:t>:</a:t>
            </a:r>
          </a:p>
          <a:p>
            <a:r>
              <a:rPr lang="en-US" sz="2000" dirty="0"/>
              <a:t>MAE: 0.1310</a:t>
            </a:r>
          </a:p>
          <a:p>
            <a:r>
              <a:rPr lang="en-US" sz="2000" dirty="0"/>
              <a:t>MSE: 0.0327</a:t>
            </a:r>
          </a:p>
          <a:p>
            <a:r>
              <a:rPr lang="en-US" sz="2000" dirty="0"/>
              <a:t>Performs better than Linear Regression but slightly worse than Polynomial Regression and KNN. It offers robustness and handles non-linearity well, but its performance lags behind KNN for this task.</a:t>
            </a:r>
          </a:p>
          <a:p>
            <a:endParaRPr lang="en-US" sz="2000" dirty="0"/>
          </a:p>
          <a:p>
            <a:pPr marL="0" indent="0">
              <a:buNone/>
            </a:pPr>
            <a:r>
              <a:rPr lang="en-US" sz="2400" b="1" dirty="0"/>
              <a:t>Conclusion</a:t>
            </a:r>
          </a:p>
          <a:p>
            <a:r>
              <a:rPr lang="en-US" sz="2000" dirty="0"/>
              <a:t>KNN stands out as the best-performing model for predicting wind turbine power, achieving the lowest MAE and MSE. </a:t>
            </a:r>
          </a:p>
          <a:p>
            <a:r>
              <a:rPr lang="en-US" sz="2000" dirty="0"/>
              <a:t>Polynomial Regression also demonstrates decent performance, especially in capturing non-linear relationships.</a:t>
            </a:r>
          </a:p>
          <a:p>
            <a:r>
              <a:rPr lang="en-US" sz="2000" dirty="0"/>
              <a:t> Random Forest provides a balanced error rates, but its performance is not as competitive. </a:t>
            </a:r>
          </a:p>
          <a:p>
            <a:r>
              <a:rPr lang="en-US" sz="2000" dirty="0"/>
              <a:t>Linear Regression, while straightforward and easy to interpret, has the highest errors and is the least suited for this task among the tested models.</a:t>
            </a:r>
            <a:endParaRPr lang="en-IN" sz="2000" dirty="0"/>
          </a:p>
        </p:txBody>
      </p:sp>
    </p:spTree>
    <p:extLst>
      <p:ext uri="{BB962C8B-B14F-4D97-AF65-F5344CB8AC3E}">
        <p14:creationId xmlns:p14="http://schemas.microsoft.com/office/powerpoint/2010/main" val="5166033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25E71-7AB1-CF88-C0EB-A262492FE671}"/>
              </a:ext>
            </a:extLst>
          </p:cNvPr>
          <p:cNvSpPr>
            <a:spLocks noGrp="1"/>
          </p:cNvSpPr>
          <p:nvPr>
            <p:ph type="title"/>
          </p:nvPr>
        </p:nvSpPr>
        <p:spPr/>
        <p:txBody>
          <a:bodyPr/>
          <a:lstStyle/>
          <a:p>
            <a:r>
              <a:rPr lang="en-IN" dirty="0"/>
              <a:t>ANN (</a:t>
            </a:r>
            <a:r>
              <a:rPr lang="en-IN" dirty="0" err="1"/>
              <a:t>adam,reLu</a:t>
            </a:r>
            <a:r>
              <a:rPr lang="en-IN" dirty="0"/>
              <a:t>)</a:t>
            </a:r>
          </a:p>
        </p:txBody>
      </p:sp>
      <p:pic>
        <p:nvPicPr>
          <p:cNvPr id="2050" name="Picture 2">
            <a:extLst>
              <a:ext uri="{FF2B5EF4-FFF2-40B4-BE49-F238E27FC236}">
                <a16:creationId xmlns:a16="http://schemas.microsoft.com/office/drawing/2014/main" id="{ADDF0C9C-E18C-ADAE-05B0-4857B6AD759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4564" y="2123876"/>
            <a:ext cx="6964884" cy="380598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AF0ED78-DBD8-6F0C-C725-1E9FCBB44D77}"/>
              </a:ext>
            </a:extLst>
          </p:cNvPr>
          <p:cNvSpPr txBox="1"/>
          <p:nvPr/>
        </p:nvSpPr>
        <p:spPr>
          <a:xfrm>
            <a:off x="7296407" y="3216349"/>
            <a:ext cx="4195617" cy="923330"/>
          </a:xfrm>
          <a:prstGeom prst="rect">
            <a:avLst/>
          </a:prstGeom>
          <a:noFill/>
        </p:spPr>
        <p:txBody>
          <a:bodyPr wrap="square" rtlCol="0">
            <a:spAutoFit/>
          </a:bodyPr>
          <a:lstStyle/>
          <a:p>
            <a:r>
              <a:rPr lang="en-US" dirty="0"/>
              <a:t>Test Loss: 0.024868831038475037,</a:t>
            </a:r>
          </a:p>
          <a:p>
            <a:r>
              <a:rPr lang="en-US" dirty="0"/>
              <a:t>Test MAE: 0.024868831038475037,</a:t>
            </a:r>
          </a:p>
          <a:p>
            <a:r>
              <a:rPr lang="en-US" dirty="0"/>
              <a:t>Test MSE: 0.0022831049282103777,</a:t>
            </a:r>
            <a:endParaRPr lang="en-IN" dirty="0"/>
          </a:p>
        </p:txBody>
      </p:sp>
    </p:spTree>
    <p:extLst>
      <p:ext uri="{BB962C8B-B14F-4D97-AF65-F5344CB8AC3E}">
        <p14:creationId xmlns:p14="http://schemas.microsoft.com/office/powerpoint/2010/main" val="11678256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3E81B-4796-499F-A756-8AF7CBB2DB41}"/>
              </a:ext>
            </a:extLst>
          </p:cNvPr>
          <p:cNvSpPr>
            <a:spLocks noGrp="1"/>
          </p:cNvSpPr>
          <p:nvPr>
            <p:ph type="title"/>
          </p:nvPr>
        </p:nvSpPr>
        <p:spPr/>
        <p:txBody>
          <a:bodyPr/>
          <a:lstStyle/>
          <a:p>
            <a:r>
              <a:rPr lang="en-IN" dirty="0"/>
              <a:t>RNN (</a:t>
            </a:r>
            <a:r>
              <a:rPr lang="en-IN" dirty="0" err="1"/>
              <a:t>adam,reLu</a:t>
            </a:r>
            <a:r>
              <a:rPr lang="en-IN" dirty="0"/>
              <a:t>)</a:t>
            </a:r>
          </a:p>
        </p:txBody>
      </p:sp>
      <p:pic>
        <p:nvPicPr>
          <p:cNvPr id="3074" name="Picture 2">
            <a:extLst>
              <a:ext uri="{FF2B5EF4-FFF2-40B4-BE49-F238E27FC236}">
                <a16:creationId xmlns:a16="http://schemas.microsoft.com/office/drawing/2014/main" id="{AE870A84-5D59-B747-792F-3D6E2B3C159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2141537"/>
            <a:ext cx="8066282" cy="435133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F902809-BF14-1076-4573-D00A01AC8FB1}"/>
              </a:ext>
            </a:extLst>
          </p:cNvPr>
          <p:cNvSpPr txBox="1"/>
          <p:nvPr/>
        </p:nvSpPr>
        <p:spPr>
          <a:xfrm>
            <a:off x="8209052" y="3428999"/>
            <a:ext cx="3698696" cy="923330"/>
          </a:xfrm>
          <a:prstGeom prst="rect">
            <a:avLst/>
          </a:prstGeom>
          <a:noFill/>
        </p:spPr>
        <p:txBody>
          <a:bodyPr wrap="square" rtlCol="0">
            <a:spAutoFit/>
          </a:bodyPr>
          <a:lstStyle/>
          <a:p>
            <a:r>
              <a:rPr lang="en-US" dirty="0"/>
              <a:t>Test Loss: 0.011907434090971947</a:t>
            </a:r>
          </a:p>
          <a:p>
            <a:r>
              <a:rPr lang="en-US" dirty="0"/>
              <a:t>Test MAE: 0.04457017779350281</a:t>
            </a:r>
          </a:p>
          <a:p>
            <a:r>
              <a:rPr lang="en-US" dirty="0"/>
              <a:t>Test MSE: 0.011907434090971947</a:t>
            </a:r>
            <a:endParaRPr lang="en-IN" dirty="0"/>
          </a:p>
        </p:txBody>
      </p:sp>
    </p:spTree>
    <p:extLst>
      <p:ext uri="{BB962C8B-B14F-4D97-AF65-F5344CB8AC3E}">
        <p14:creationId xmlns:p14="http://schemas.microsoft.com/office/powerpoint/2010/main" val="38095483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72790-072E-CE6D-9D93-335BDAAE3FBD}"/>
              </a:ext>
            </a:extLst>
          </p:cNvPr>
          <p:cNvSpPr>
            <a:spLocks noGrp="1"/>
          </p:cNvSpPr>
          <p:nvPr>
            <p:ph type="title"/>
          </p:nvPr>
        </p:nvSpPr>
        <p:spPr>
          <a:xfrm>
            <a:off x="458057" y="308028"/>
            <a:ext cx="10515600" cy="1325563"/>
          </a:xfrm>
        </p:spPr>
        <p:txBody>
          <a:bodyPr/>
          <a:lstStyle/>
          <a:p>
            <a:r>
              <a:rPr lang="en-IN" b="1" dirty="0"/>
              <a:t>Summary of Hybrid Models</a:t>
            </a:r>
          </a:p>
        </p:txBody>
      </p:sp>
      <p:sp>
        <p:nvSpPr>
          <p:cNvPr id="3" name="Content Placeholder 2">
            <a:extLst>
              <a:ext uri="{FF2B5EF4-FFF2-40B4-BE49-F238E27FC236}">
                <a16:creationId xmlns:a16="http://schemas.microsoft.com/office/drawing/2014/main" id="{2BB86644-0840-787E-31EA-4DCD5AACC531}"/>
              </a:ext>
            </a:extLst>
          </p:cNvPr>
          <p:cNvSpPr>
            <a:spLocks noGrp="1"/>
          </p:cNvSpPr>
          <p:nvPr>
            <p:ph idx="1"/>
          </p:nvPr>
        </p:nvSpPr>
        <p:spPr>
          <a:xfrm>
            <a:off x="540249" y="2157575"/>
            <a:ext cx="10966807" cy="4161032"/>
          </a:xfrm>
        </p:spPr>
        <p:txBody>
          <a:bodyPr>
            <a:noAutofit/>
          </a:bodyPr>
          <a:lstStyle/>
          <a:p>
            <a:pPr marL="0" indent="0">
              <a:buNone/>
            </a:pPr>
            <a:r>
              <a:rPr lang="en-US" sz="2400" b="1" dirty="0"/>
              <a:t>Artificial Neural Network (ANN):</a:t>
            </a:r>
          </a:p>
          <a:p>
            <a:r>
              <a:rPr lang="en-US" sz="2400" dirty="0"/>
              <a:t>Test Loss: 0.0249</a:t>
            </a:r>
          </a:p>
          <a:p>
            <a:r>
              <a:rPr lang="en-US" sz="2400" dirty="0"/>
              <a:t>Test MAE: 0.0249</a:t>
            </a:r>
          </a:p>
          <a:p>
            <a:r>
              <a:rPr lang="en-US" sz="2400" dirty="0"/>
              <a:t>Test MSE: 0.0023</a:t>
            </a:r>
          </a:p>
          <a:p>
            <a:r>
              <a:rPr lang="en-US" sz="2400" dirty="0"/>
              <a:t>The ANN model shows excellent performance with low error metrics, particularly excelling in Mean Absolute Error (MAE) and Mean Squared Error (MSE). It demonstrates the ability to capture complex patterns effectively.</a:t>
            </a:r>
          </a:p>
          <a:p>
            <a:r>
              <a:rPr lang="en-US" sz="2400" dirty="0"/>
              <a:t>They excel at learning non-linear relationships in complex datasets, which likely dominate the wind turbine power prediction problem.</a:t>
            </a:r>
          </a:p>
        </p:txBody>
      </p:sp>
    </p:spTree>
    <p:extLst>
      <p:ext uri="{BB962C8B-B14F-4D97-AF65-F5344CB8AC3E}">
        <p14:creationId xmlns:p14="http://schemas.microsoft.com/office/powerpoint/2010/main" val="22160125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0EBF68-4466-049E-584F-0C351B88CC4B}"/>
              </a:ext>
            </a:extLst>
          </p:cNvPr>
          <p:cNvSpPr>
            <a:spLocks noGrp="1"/>
          </p:cNvSpPr>
          <p:nvPr>
            <p:ph idx="1"/>
          </p:nvPr>
        </p:nvSpPr>
        <p:spPr>
          <a:xfrm>
            <a:off x="838200" y="694977"/>
            <a:ext cx="10515600" cy="5468046"/>
          </a:xfrm>
        </p:spPr>
        <p:txBody>
          <a:bodyPr>
            <a:normAutofit/>
          </a:bodyPr>
          <a:lstStyle/>
          <a:p>
            <a:pPr marL="0" indent="0">
              <a:buNone/>
            </a:pPr>
            <a:r>
              <a:rPr lang="en-US" sz="2000" b="1" dirty="0"/>
              <a:t>Recurrent Neural Network (RNN):</a:t>
            </a:r>
          </a:p>
          <a:p>
            <a:pPr>
              <a:buFont typeface="Arial" panose="020B0604020202020204" pitchFamily="34" charset="0"/>
              <a:buChar char="•"/>
            </a:pPr>
            <a:r>
              <a:rPr lang="en-US" sz="2000" dirty="0"/>
              <a:t>Test Loss: 0.0119</a:t>
            </a:r>
          </a:p>
          <a:p>
            <a:pPr>
              <a:buFont typeface="Arial" panose="020B0604020202020204" pitchFamily="34" charset="0"/>
              <a:buChar char="•"/>
            </a:pPr>
            <a:r>
              <a:rPr lang="en-US" sz="2000" dirty="0"/>
              <a:t>Test MAE: 0.0446</a:t>
            </a:r>
          </a:p>
          <a:p>
            <a:pPr>
              <a:buFont typeface="Arial" panose="020B0604020202020204" pitchFamily="34" charset="0"/>
              <a:buChar char="•"/>
            </a:pPr>
            <a:r>
              <a:rPr lang="en-US" sz="2000" dirty="0"/>
              <a:t>Test MSE: 0.0119</a:t>
            </a:r>
          </a:p>
          <a:p>
            <a:pPr>
              <a:buFont typeface="Arial" panose="020B0604020202020204" pitchFamily="34" charset="0"/>
              <a:buChar char="•"/>
            </a:pPr>
            <a:r>
              <a:rPr lang="en-US" sz="2000" dirty="0"/>
              <a:t>The RNN model, although having higher MAE than ANN, shows strong performance with a low test loss. Its sequential modeling ability likely contributes to improved handling of time-series dependencies in data.</a:t>
            </a:r>
          </a:p>
          <a:p>
            <a:pPr>
              <a:buFont typeface="Arial" panose="020B0604020202020204" pitchFamily="34" charset="0"/>
              <a:buChar char="•"/>
            </a:pPr>
            <a:endParaRPr lang="en-US" sz="2400" b="1" dirty="0"/>
          </a:p>
          <a:p>
            <a:pPr marL="0" indent="0">
              <a:buNone/>
            </a:pPr>
            <a:r>
              <a:rPr lang="en-US" sz="2400" b="1" dirty="0"/>
              <a:t>Conclusion:</a:t>
            </a:r>
            <a:endParaRPr lang="en-US" sz="2000" dirty="0"/>
          </a:p>
          <a:p>
            <a:pPr>
              <a:buFont typeface="Arial" panose="020B0604020202020204" pitchFamily="34" charset="0"/>
              <a:buChar char="•"/>
            </a:pPr>
            <a:r>
              <a:rPr lang="en-US" sz="2000" dirty="0"/>
              <a:t>The </a:t>
            </a:r>
            <a:r>
              <a:rPr lang="en-US" sz="2000" b="1" dirty="0"/>
              <a:t>ANN model</a:t>
            </a:r>
            <a:r>
              <a:rPr lang="en-US" sz="2000" dirty="0"/>
              <a:t> has a lower Test MAE and Test MSE, indicating a slightly better fit for predicting wind turbine power under these conditions.</a:t>
            </a:r>
          </a:p>
          <a:p>
            <a:pPr>
              <a:buFont typeface="Arial" panose="020B0604020202020204" pitchFamily="34" charset="0"/>
              <a:buChar char="•"/>
            </a:pPr>
            <a:r>
              <a:rPr lang="en-US" sz="2000" dirty="0"/>
              <a:t>The </a:t>
            </a:r>
            <a:r>
              <a:rPr lang="en-US" sz="2000" b="1" dirty="0"/>
              <a:t>RNN model</a:t>
            </a:r>
            <a:r>
              <a:rPr lang="en-US" sz="2000" dirty="0"/>
              <a:t>, however, also performs very well and may have advantages in scenarios where time-series or sequential dependencies are more prominent.</a:t>
            </a:r>
          </a:p>
          <a:p>
            <a:r>
              <a:rPr lang="en-US" sz="2000" dirty="0"/>
              <a:t>Overall, both models perform significantly better compared to traditional ML methods like KNN or Random Forest, with ANN showing marginally better error metrics.</a:t>
            </a:r>
          </a:p>
          <a:p>
            <a:endParaRPr lang="en-IN" dirty="0"/>
          </a:p>
        </p:txBody>
      </p:sp>
    </p:spTree>
    <p:extLst>
      <p:ext uri="{BB962C8B-B14F-4D97-AF65-F5344CB8AC3E}">
        <p14:creationId xmlns:p14="http://schemas.microsoft.com/office/powerpoint/2010/main" val="4680005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B6C18-BDE1-F7EA-8B9D-5C93EA238685}"/>
              </a:ext>
            </a:extLst>
          </p:cNvPr>
          <p:cNvSpPr>
            <a:spLocks noGrp="1"/>
          </p:cNvSpPr>
          <p:nvPr>
            <p:ph type="title"/>
          </p:nvPr>
        </p:nvSpPr>
        <p:spPr/>
        <p:txBody>
          <a:bodyPr/>
          <a:lstStyle/>
          <a:p>
            <a:r>
              <a:rPr lang="en-IN" dirty="0"/>
              <a:t>ANFIS</a:t>
            </a:r>
          </a:p>
        </p:txBody>
      </p:sp>
      <p:pic>
        <p:nvPicPr>
          <p:cNvPr id="4098" name="Picture 2">
            <a:extLst>
              <a:ext uri="{FF2B5EF4-FFF2-40B4-BE49-F238E27FC236}">
                <a16:creationId xmlns:a16="http://schemas.microsoft.com/office/drawing/2014/main" id="{B8E8B7E2-592B-0715-D06C-8FA93ADF9C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01" y="1647825"/>
            <a:ext cx="9534525" cy="52101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5CD2611-6C23-9D92-DC2D-9B3AEB111F07}"/>
              </a:ext>
            </a:extLst>
          </p:cNvPr>
          <p:cNvSpPr txBox="1"/>
          <p:nvPr/>
        </p:nvSpPr>
        <p:spPr>
          <a:xfrm>
            <a:off x="9534525" y="3124131"/>
            <a:ext cx="2085654" cy="1754326"/>
          </a:xfrm>
          <a:prstGeom prst="rect">
            <a:avLst/>
          </a:prstGeom>
          <a:noFill/>
        </p:spPr>
        <p:txBody>
          <a:bodyPr wrap="square" rtlCol="0">
            <a:spAutoFit/>
          </a:bodyPr>
          <a:lstStyle/>
          <a:p>
            <a:r>
              <a:rPr lang="en-IN" dirty="0"/>
              <a:t>MAE: 0.11327385786875645</a:t>
            </a:r>
          </a:p>
          <a:p>
            <a:r>
              <a:rPr lang="en-IN" dirty="0"/>
              <a:t>MSE: 0.022725813722030665</a:t>
            </a:r>
          </a:p>
        </p:txBody>
      </p:sp>
    </p:spTree>
    <p:extLst>
      <p:ext uri="{BB962C8B-B14F-4D97-AF65-F5344CB8AC3E}">
        <p14:creationId xmlns:p14="http://schemas.microsoft.com/office/powerpoint/2010/main" val="38907315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984A8-0C67-15B0-E286-5DCFAD2C23BF}"/>
              </a:ext>
            </a:extLst>
          </p:cNvPr>
          <p:cNvSpPr>
            <a:spLocks noGrp="1"/>
          </p:cNvSpPr>
          <p:nvPr>
            <p:ph type="title"/>
          </p:nvPr>
        </p:nvSpPr>
        <p:spPr/>
        <p:txBody>
          <a:bodyPr/>
          <a:lstStyle/>
          <a:p>
            <a:r>
              <a:rPr lang="en-IN" dirty="0"/>
              <a:t>Digital Twin</a:t>
            </a:r>
          </a:p>
        </p:txBody>
      </p:sp>
      <p:pic>
        <p:nvPicPr>
          <p:cNvPr id="7" name="Picture 6">
            <a:extLst>
              <a:ext uri="{FF2B5EF4-FFF2-40B4-BE49-F238E27FC236}">
                <a16:creationId xmlns:a16="http://schemas.microsoft.com/office/drawing/2014/main" id="{7AA73CF6-AD5F-2EEA-2FB7-D666F4E9003E}"/>
              </a:ext>
            </a:extLst>
          </p:cNvPr>
          <p:cNvPicPr>
            <a:picLocks noChangeAspect="1"/>
          </p:cNvPicPr>
          <p:nvPr/>
        </p:nvPicPr>
        <p:blipFill>
          <a:blip r:embed="rId2"/>
          <a:stretch>
            <a:fillRect/>
          </a:stretch>
        </p:blipFill>
        <p:spPr>
          <a:xfrm>
            <a:off x="434791" y="4270531"/>
            <a:ext cx="3576081" cy="1266209"/>
          </a:xfrm>
          <a:prstGeom prst="rect">
            <a:avLst/>
          </a:prstGeom>
        </p:spPr>
      </p:pic>
      <p:pic>
        <p:nvPicPr>
          <p:cNvPr id="11" name="Picture 10">
            <a:extLst>
              <a:ext uri="{FF2B5EF4-FFF2-40B4-BE49-F238E27FC236}">
                <a16:creationId xmlns:a16="http://schemas.microsoft.com/office/drawing/2014/main" id="{4051C829-DBF5-3FF9-E321-F0FBC95EE897}"/>
              </a:ext>
            </a:extLst>
          </p:cNvPr>
          <p:cNvPicPr>
            <a:picLocks noChangeAspect="1"/>
          </p:cNvPicPr>
          <p:nvPr/>
        </p:nvPicPr>
        <p:blipFill>
          <a:blip r:embed="rId3"/>
          <a:stretch>
            <a:fillRect/>
          </a:stretch>
        </p:blipFill>
        <p:spPr>
          <a:xfrm>
            <a:off x="218773" y="2561488"/>
            <a:ext cx="11754454" cy="838243"/>
          </a:xfrm>
          <a:prstGeom prst="rect">
            <a:avLst/>
          </a:prstGeom>
        </p:spPr>
      </p:pic>
    </p:spTree>
    <p:extLst>
      <p:ext uri="{BB962C8B-B14F-4D97-AF65-F5344CB8AC3E}">
        <p14:creationId xmlns:p14="http://schemas.microsoft.com/office/powerpoint/2010/main" val="5470154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C461B-D8F8-31AF-7D15-8527670B38A2}"/>
              </a:ext>
            </a:extLst>
          </p:cNvPr>
          <p:cNvSpPr>
            <a:spLocks noGrp="1"/>
          </p:cNvSpPr>
          <p:nvPr>
            <p:ph type="title"/>
          </p:nvPr>
        </p:nvSpPr>
        <p:spPr>
          <a:xfrm>
            <a:off x="347662" y="-53939"/>
            <a:ext cx="10515600" cy="1325563"/>
          </a:xfrm>
        </p:spPr>
        <p:txBody>
          <a:bodyPr/>
          <a:lstStyle/>
          <a:p>
            <a:r>
              <a:rPr lang="en-IN" b="1" dirty="0"/>
              <a:t>Convolution Neural Network</a:t>
            </a:r>
          </a:p>
        </p:txBody>
      </p:sp>
      <p:pic>
        <p:nvPicPr>
          <p:cNvPr id="1026" name="Picture 2">
            <a:extLst>
              <a:ext uri="{FF2B5EF4-FFF2-40B4-BE49-F238E27FC236}">
                <a16:creationId xmlns:a16="http://schemas.microsoft.com/office/drawing/2014/main" id="{2632BA66-859A-CA70-BEE0-D2E87EC741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203" y="1651769"/>
            <a:ext cx="7720173" cy="421871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3F40C56-E31A-5F3D-0610-99A79F19CF42}"/>
              </a:ext>
            </a:extLst>
          </p:cNvPr>
          <p:cNvSpPr txBox="1"/>
          <p:nvPr/>
        </p:nvSpPr>
        <p:spPr>
          <a:xfrm>
            <a:off x="8311793" y="3113070"/>
            <a:ext cx="1809470" cy="646331"/>
          </a:xfrm>
          <a:prstGeom prst="rect">
            <a:avLst/>
          </a:prstGeom>
          <a:noFill/>
        </p:spPr>
        <p:txBody>
          <a:bodyPr wrap="none" rtlCol="0">
            <a:spAutoFit/>
          </a:bodyPr>
          <a:lstStyle/>
          <a:p>
            <a:r>
              <a:rPr lang="en-US" dirty="0"/>
              <a:t>Test MAE: 0.1239</a:t>
            </a:r>
          </a:p>
          <a:p>
            <a:r>
              <a:rPr lang="en-US" dirty="0"/>
              <a:t>Test MSE: 0.0257</a:t>
            </a:r>
            <a:endParaRPr lang="en-IN" dirty="0"/>
          </a:p>
        </p:txBody>
      </p:sp>
    </p:spTree>
    <p:extLst>
      <p:ext uri="{BB962C8B-B14F-4D97-AF65-F5344CB8AC3E}">
        <p14:creationId xmlns:p14="http://schemas.microsoft.com/office/powerpoint/2010/main" val="4299019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804B0-8C13-3199-F294-12FCA9398253}"/>
              </a:ext>
            </a:extLst>
          </p:cNvPr>
          <p:cNvSpPr>
            <a:spLocks noGrp="1"/>
          </p:cNvSpPr>
          <p:nvPr>
            <p:ph type="title"/>
          </p:nvPr>
        </p:nvSpPr>
        <p:spPr/>
        <p:txBody>
          <a:bodyPr/>
          <a:lstStyle/>
          <a:p>
            <a:r>
              <a:rPr lang="en-IN" b="1" dirty="0"/>
              <a:t>Gated Recurrent Unit</a:t>
            </a:r>
            <a:endParaRPr lang="en-IN" dirty="0"/>
          </a:p>
        </p:txBody>
      </p:sp>
      <p:pic>
        <p:nvPicPr>
          <p:cNvPr id="2050" name="Picture 2">
            <a:extLst>
              <a:ext uri="{FF2B5EF4-FFF2-40B4-BE49-F238E27FC236}">
                <a16:creationId xmlns:a16="http://schemas.microsoft.com/office/drawing/2014/main" id="{A273E5B2-C261-0BF7-6148-716541CB9D3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7686" y="1805077"/>
            <a:ext cx="7962868" cy="435133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E4509F5-16D5-E54D-183F-374F88EBB592}"/>
              </a:ext>
            </a:extLst>
          </p:cNvPr>
          <p:cNvSpPr txBox="1"/>
          <p:nvPr/>
        </p:nvSpPr>
        <p:spPr>
          <a:xfrm>
            <a:off x="8722051" y="3334415"/>
            <a:ext cx="1809470" cy="646331"/>
          </a:xfrm>
          <a:prstGeom prst="rect">
            <a:avLst/>
          </a:prstGeom>
          <a:noFill/>
        </p:spPr>
        <p:txBody>
          <a:bodyPr wrap="none" rtlCol="0">
            <a:spAutoFit/>
          </a:bodyPr>
          <a:lstStyle/>
          <a:p>
            <a:r>
              <a:rPr lang="en-US" dirty="0"/>
              <a:t>Test MAE: 0.1313</a:t>
            </a:r>
          </a:p>
          <a:p>
            <a:r>
              <a:rPr lang="en-US" dirty="0"/>
              <a:t>Test MSE: 0.0301</a:t>
            </a:r>
            <a:endParaRPr lang="en-IN" dirty="0"/>
          </a:p>
        </p:txBody>
      </p:sp>
    </p:spTree>
    <p:extLst>
      <p:ext uri="{BB962C8B-B14F-4D97-AF65-F5344CB8AC3E}">
        <p14:creationId xmlns:p14="http://schemas.microsoft.com/office/powerpoint/2010/main" val="42725447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ED763B6-23B3-5FD0-BB65-582910CD1911}"/>
              </a:ext>
            </a:extLst>
          </p:cNvPr>
          <p:cNvSpPr>
            <a:spLocks noGrp="1"/>
          </p:cNvSpPr>
          <p:nvPr>
            <p:ph type="dt" sz="half" idx="10"/>
          </p:nvPr>
        </p:nvSpPr>
        <p:spPr/>
        <p:txBody>
          <a:bodyPr/>
          <a:lstStyle/>
          <a:p>
            <a:fld id="{63A1E0C9-DC64-4C35-A94A-2EBA47BF7CCC}" type="datetime2">
              <a:rPr lang="en-US" smtClean="0"/>
              <a:pPr/>
              <a:t>Sunday, April 13, 2025</a:t>
            </a:fld>
            <a:endParaRPr lang="en-US"/>
          </a:p>
        </p:txBody>
      </p:sp>
      <p:sp>
        <p:nvSpPr>
          <p:cNvPr id="4" name="Footer Placeholder 3">
            <a:extLst>
              <a:ext uri="{FF2B5EF4-FFF2-40B4-BE49-F238E27FC236}">
                <a16:creationId xmlns:a16="http://schemas.microsoft.com/office/drawing/2014/main" id="{801E50CE-43B9-CFAE-E3F2-70C9C2C69ABB}"/>
              </a:ext>
            </a:extLst>
          </p:cNvPr>
          <p:cNvSpPr>
            <a:spLocks noGrp="1"/>
          </p:cNvSpPr>
          <p:nvPr>
            <p:ph type="ftr" sz="quarter" idx="11"/>
          </p:nvPr>
        </p:nvSpPr>
        <p:spPr/>
        <p:txBody>
          <a:bodyPr/>
          <a:lstStyle/>
          <a:p>
            <a:r>
              <a:rPr lang="en-US"/>
              <a:t>IV-B.Tech.-EEE-Project Work/Batch no</a:t>
            </a:r>
          </a:p>
        </p:txBody>
      </p:sp>
      <p:sp>
        <p:nvSpPr>
          <p:cNvPr id="5" name="Slide Number Placeholder 4">
            <a:extLst>
              <a:ext uri="{FF2B5EF4-FFF2-40B4-BE49-F238E27FC236}">
                <a16:creationId xmlns:a16="http://schemas.microsoft.com/office/drawing/2014/main" id="{3C36C9D3-2DBF-A935-65A7-F57257B2299C}"/>
              </a:ext>
            </a:extLst>
          </p:cNvPr>
          <p:cNvSpPr>
            <a:spLocks noGrp="1"/>
          </p:cNvSpPr>
          <p:nvPr>
            <p:ph type="sldNum" sz="quarter" idx="12"/>
          </p:nvPr>
        </p:nvSpPr>
        <p:spPr/>
        <p:txBody>
          <a:bodyPr/>
          <a:lstStyle/>
          <a:p>
            <a:fld id="{28AE44C5-0C44-464F-AF0A-654F4F67C7ED}" type="slidenum">
              <a:rPr lang="en-US" smtClean="0"/>
              <a:pPr/>
              <a:t>47</a:t>
            </a:fld>
            <a:endParaRPr lang="en-US"/>
          </a:p>
        </p:txBody>
      </p:sp>
      <p:graphicFrame>
        <p:nvGraphicFramePr>
          <p:cNvPr id="8" name="Table 7">
            <a:extLst>
              <a:ext uri="{FF2B5EF4-FFF2-40B4-BE49-F238E27FC236}">
                <a16:creationId xmlns:a16="http://schemas.microsoft.com/office/drawing/2014/main" id="{AF04D146-44E0-DADC-5396-21BECEDE3168}"/>
              </a:ext>
            </a:extLst>
          </p:cNvPr>
          <p:cNvGraphicFramePr>
            <a:graphicFrameLocks noGrp="1"/>
          </p:cNvGraphicFramePr>
          <p:nvPr>
            <p:extLst>
              <p:ext uri="{D42A27DB-BD31-4B8C-83A1-F6EECF244321}">
                <p14:modId xmlns:p14="http://schemas.microsoft.com/office/powerpoint/2010/main" val="1023167571"/>
              </p:ext>
            </p:extLst>
          </p:nvPr>
        </p:nvGraphicFramePr>
        <p:xfrm>
          <a:off x="1224451" y="718997"/>
          <a:ext cx="7540088" cy="5637353"/>
        </p:xfrm>
        <a:graphic>
          <a:graphicData uri="http://schemas.openxmlformats.org/drawingml/2006/table">
            <a:tbl>
              <a:tblPr firstRow="1" bandRow="1">
                <a:tableStyleId>{5C22544A-7EE6-4342-B048-85BDC9FD1C3A}</a:tableStyleId>
              </a:tblPr>
              <a:tblGrid>
                <a:gridCol w="1885022">
                  <a:extLst>
                    <a:ext uri="{9D8B030D-6E8A-4147-A177-3AD203B41FA5}">
                      <a16:colId xmlns:a16="http://schemas.microsoft.com/office/drawing/2014/main" val="2259847823"/>
                    </a:ext>
                  </a:extLst>
                </a:gridCol>
                <a:gridCol w="1885022">
                  <a:extLst>
                    <a:ext uri="{9D8B030D-6E8A-4147-A177-3AD203B41FA5}">
                      <a16:colId xmlns:a16="http://schemas.microsoft.com/office/drawing/2014/main" val="1833633342"/>
                    </a:ext>
                  </a:extLst>
                </a:gridCol>
                <a:gridCol w="1885022">
                  <a:extLst>
                    <a:ext uri="{9D8B030D-6E8A-4147-A177-3AD203B41FA5}">
                      <a16:colId xmlns:a16="http://schemas.microsoft.com/office/drawing/2014/main" val="2916467170"/>
                    </a:ext>
                  </a:extLst>
                </a:gridCol>
                <a:gridCol w="1885022">
                  <a:extLst>
                    <a:ext uri="{9D8B030D-6E8A-4147-A177-3AD203B41FA5}">
                      <a16:colId xmlns:a16="http://schemas.microsoft.com/office/drawing/2014/main" val="3906656533"/>
                    </a:ext>
                  </a:extLst>
                </a:gridCol>
              </a:tblGrid>
              <a:tr h="516713">
                <a:tc>
                  <a:txBody>
                    <a:bodyPr/>
                    <a:lstStyle/>
                    <a:p>
                      <a:pPr algn="ctr"/>
                      <a:r>
                        <a:rPr lang="en-US" dirty="0"/>
                        <a:t>Model</a:t>
                      </a:r>
                      <a:endParaRPr lang="en-IN" dirty="0"/>
                    </a:p>
                  </a:txBody>
                  <a:tcPr/>
                </a:tc>
                <a:tc>
                  <a:txBody>
                    <a:bodyPr/>
                    <a:lstStyle/>
                    <a:p>
                      <a:pPr algn="ctr"/>
                      <a:r>
                        <a:rPr lang="en-US" dirty="0"/>
                        <a:t>MSE</a:t>
                      </a:r>
                      <a:endParaRPr lang="en-IN" dirty="0"/>
                    </a:p>
                  </a:txBody>
                  <a:tcPr/>
                </a:tc>
                <a:tc>
                  <a:txBody>
                    <a:bodyPr/>
                    <a:lstStyle/>
                    <a:p>
                      <a:pPr algn="ctr"/>
                      <a:r>
                        <a:rPr lang="en-US" dirty="0"/>
                        <a:t>MAE</a:t>
                      </a:r>
                      <a:endParaRPr lang="en-IN" dirty="0"/>
                    </a:p>
                  </a:txBody>
                  <a:tcPr/>
                </a:tc>
                <a:tc>
                  <a:txBody>
                    <a:bodyPr/>
                    <a:lstStyle/>
                    <a:p>
                      <a:pPr algn="ctr"/>
                      <a:r>
                        <a:rPr lang="en-IN" dirty="0"/>
                        <a:t>R-square</a:t>
                      </a:r>
                    </a:p>
                  </a:txBody>
                  <a:tcPr/>
                </a:tc>
                <a:extLst>
                  <a:ext uri="{0D108BD9-81ED-4DB2-BD59-A6C34878D82A}">
                    <a16:rowId xmlns:a16="http://schemas.microsoft.com/office/drawing/2014/main" val="483858979"/>
                  </a:ext>
                </a:extLst>
              </a:tr>
              <a:tr h="316739">
                <a:tc>
                  <a:txBody>
                    <a:bodyPr/>
                    <a:lstStyle/>
                    <a:p>
                      <a:pPr algn="ctr"/>
                      <a:r>
                        <a:rPr lang="en-US" dirty="0"/>
                        <a:t>AR</a:t>
                      </a:r>
                      <a:endParaRPr lang="en-IN" dirty="0"/>
                    </a:p>
                  </a:txBody>
                  <a:tcPr/>
                </a:tc>
                <a:tc>
                  <a:txBody>
                    <a:bodyPr/>
                    <a:lstStyle/>
                    <a:p>
                      <a:pPr algn="ctr"/>
                      <a:r>
                        <a:rPr lang="en-IN" dirty="0"/>
                        <a:t>0.186</a:t>
                      </a:r>
                    </a:p>
                  </a:txBody>
                  <a:tcPr/>
                </a:tc>
                <a:tc>
                  <a:txBody>
                    <a:bodyPr/>
                    <a:lstStyle/>
                    <a:p>
                      <a:pPr algn="ctr"/>
                      <a:r>
                        <a:rPr lang="en-IN" dirty="0"/>
                        <a:t>0.387</a:t>
                      </a:r>
                    </a:p>
                  </a:txBody>
                  <a:tcPr/>
                </a:tc>
                <a:tc>
                  <a:txBody>
                    <a:bodyPr/>
                    <a:lstStyle/>
                    <a:p>
                      <a:pPr algn="ctr"/>
                      <a:r>
                        <a:rPr lang="en-IN" dirty="0"/>
                        <a:t>-3.204</a:t>
                      </a:r>
                    </a:p>
                  </a:txBody>
                  <a:tcPr/>
                </a:tc>
                <a:extLst>
                  <a:ext uri="{0D108BD9-81ED-4DB2-BD59-A6C34878D82A}">
                    <a16:rowId xmlns:a16="http://schemas.microsoft.com/office/drawing/2014/main" val="1418099291"/>
                  </a:ext>
                </a:extLst>
              </a:tr>
              <a:tr h="316739">
                <a:tc>
                  <a:txBody>
                    <a:bodyPr/>
                    <a:lstStyle/>
                    <a:p>
                      <a:pPr algn="ctr"/>
                      <a:r>
                        <a:rPr lang="en-US" dirty="0"/>
                        <a:t>MA</a:t>
                      </a:r>
                      <a:endParaRPr lang="en-IN" dirty="0"/>
                    </a:p>
                  </a:txBody>
                  <a:tcPr/>
                </a:tc>
                <a:tc>
                  <a:txBody>
                    <a:bodyPr/>
                    <a:lstStyle/>
                    <a:p>
                      <a:pPr algn="ctr"/>
                      <a:r>
                        <a:rPr lang="en-IN" dirty="0"/>
                        <a:t>0.158</a:t>
                      </a:r>
                    </a:p>
                  </a:txBody>
                  <a:tcPr/>
                </a:tc>
                <a:tc>
                  <a:txBody>
                    <a:bodyPr/>
                    <a:lstStyle/>
                    <a:p>
                      <a:pPr algn="ctr"/>
                      <a:r>
                        <a:rPr lang="en-IN" dirty="0"/>
                        <a:t>0.350</a:t>
                      </a:r>
                    </a:p>
                  </a:txBody>
                  <a:tcPr/>
                </a:tc>
                <a:tc>
                  <a:txBody>
                    <a:bodyPr/>
                    <a:lstStyle/>
                    <a:p>
                      <a:pPr algn="ctr"/>
                      <a:r>
                        <a:rPr lang="en-IN" dirty="0"/>
                        <a:t>-2.579</a:t>
                      </a:r>
                    </a:p>
                  </a:txBody>
                  <a:tcPr/>
                </a:tc>
                <a:extLst>
                  <a:ext uri="{0D108BD9-81ED-4DB2-BD59-A6C34878D82A}">
                    <a16:rowId xmlns:a16="http://schemas.microsoft.com/office/drawing/2014/main" val="3412526315"/>
                  </a:ext>
                </a:extLst>
              </a:tr>
              <a:tr h="316739">
                <a:tc>
                  <a:txBody>
                    <a:bodyPr/>
                    <a:lstStyle/>
                    <a:p>
                      <a:pPr algn="ctr"/>
                      <a:r>
                        <a:rPr lang="en-US" dirty="0"/>
                        <a:t>ARMA</a:t>
                      </a:r>
                      <a:endParaRPr lang="en-IN" dirty="0"/>
                    </a:p>
                  </a:txBody>
                  <a:tcPr/>
                </a:tc>
                <a:tc>
                  <a:txBody>
                    <a:bodyPr/>
                    <a:lstStyle/>
                    <a:p>
                      <a:pPr algn="ctr"/>
                      <a:r>
                        <a:rPr lang="en-IN" dirty="0"/>
                        <a:t>0.182</a:t>
                      </a:r>
                    </a:p>
                  </a:txBody>
                  <a:tcPr/>
                </a:tc>
                <a:tc>
                  <a:txBody>
                    <a:bodyPr/>
                    <a:lstStyle/>
                    <a:p>
                      <a:pPr algn="ctr"/>
                      <a:r>
                        <a:rPr lang="en-IN" dirty="0"/>
                        <a:t>0.382</a:t>
                      </a:r>
                    </a:p>
                  </a:txBody>
                  <a:tcPr/>
                </a:tc>
                <a:tc>
                  <a:txBody>
                    <a:bodyPr/>
                    <a:lstStyle/>
                    <a:p>
                      <a:pPr algn="ctr"/>
                      <a:r>
                        <a:rPr lang="en-IN" dirty="0"/>
                        <a:t>-3.101</a:t>
                      </a:r>
                    </a:p>
                  </a:txBody>
                  <a:tcPr/>
                </a:tc>
                <a:extLst>
                  <a:ext uri="{0D108BD9-81ED-4DB2-BD59-A6C34878D82A}">
                    <a16:rowId xmlns:a16="http://schemas.microsoft.com/office/drawing/2014/main" val="1355304117"/>
                  </a:ext>
                </a:extLst>
              </a:tr>
              <a:tr h="316739">
                <a:tc>
                  <a:txBody>
                    <a:bodyPr/>
                    <a:lstStyle/>
                    <a:p>
                      <a:pPr algn="ctr"/>
                      <a:r>
                        <a:rPr lang="en-US" dirty="0"/>
                        <a:t>Linear Regression</a:t>
                      </a:r>
                      <a:endParaRPr lang="en-IN" dirty="0"/>
                    </a:p>
                  </a:txBody>
                  <a:tcPr/>
                </a:tc>
                <a:tc>
                  <a:txBody>
                    <a:bodyPr/>
                    <a:lstStyle/>
                    <a:p>
                      <a:pPr algn="ctr"/>
                      <a:r>
                        <a:rPr lang="en-IN" dirty="0"/>
                        <a:t>0.032</a:t>
                      </a:r>
                    </a:p>
                  </a:txBody>
                  <a:tcPr/>
                </a:tc>
                <a:tc>
                  <a:txBody>
                    <a:bodyPr/>
                    <a:lstStyle/>
                    <a:p>
                      <a:pPr algn="ctr"/>
                      <a:r>
                        <a:rPr lang="en-IN" dirty="0"/>
                        <a:t>0.141</a:t>
                      </a:r>
                    </a:p>
                  </a:txBody>
                  <a:tcPr/>
                </a:tc>
                <a:tc>
                  <a:txBody>
                    <a:bodyPr/>
                    <a:lstStyle/>
                    <a:p>
                      <a:pPr algn="ctr"/>
                      <a:r>
                        <a:rPr lang="en-IN" dirty="0"/>
                        <a:t>0.622</a:t>
                      </a:r>
                    </a:p>
                  </a:txBody>
                  <a:tcPr/>
                </a:tc>
                <a:extLst>
                  <a:ext uri="{0D108BD9-81ED-4DB2-BD59-A6C34878D82A}">
                    <a16:rowId xmlns:a16="http://schemas.microsoft.com/office/drawing/2014/main" val="364246561"/>
                  </a:ext>
                </a:extLst>
              </a:tr>
              <a:tr h="554294">
                <a:tc>
                  <a:txBody>
                    <a:bodyPr/>
                    <a:lstStyle/>
                    <a:p>
                      <a:pPr algn="ctr"/>
                      <a:r>
                        <a:rPr lang="en-US" dirty="0"/>
                        <a:t>Polynomial Regression</a:t>
                      </a:r>
                      <a:endParaRPr lang="en-IN" dirty="0"/>
                    </a:p>
                  </a:txBody>
                  <a:tcPr/>
                </a:tc>
                <a:tc>
                  <a:txBody>
                    <a:bodyPr/>
                    <a:lstStyle/>
                    <a:p>
                      <a:pPr algn="ctr"/>
                      <a:r>
                        <a:rPr lang="en-IN" dirty="0"/>
                        <a:t>0.03</a:t>
                      </a:r>
                    </a:p>
                  </a:txBody>
                  <a:tcPr/>
                </a:tc>
                <a:tc>
                  <a:txBody>
                    <a:bodyPr/>
                    <a:lstStyle/>
                    <a:p>
                      <a:pPr algn="ctr"/>
                      <a:r>
                        <a:rPr lang="en-IN" dirty="0"/>
                        <a:t>0.136</a:t>
                      </a:r>
                    </a:p>
                  </a:txBody>
                  <a:tcPr/>
                </a:tc>
                <a:tc>
                  <a:txBody>
                    <a:bodyPr/>
                    <a:lstStyle/>
                    <a:p>
                      <a:pPr algn="ctr"/>
                      <a:r>
                        <a:rPr lang="en-IN" dirty="0"/>
                        <a:t>0.642</a:t>
                      </a:r>
                    </a:p>
                  </a:txBody>
                  <a:tcPr/>
                </a:tc>
                <a:extLst>
                  <a:ext uri="{0D108BD9-81ED-4DB2-BD59-A6C34878D82A}">
                    <a16:rowId xmlns:a16="http://schemas.microsoft.com/office/drawing/2014/main" val="714584071"/>
                  </a:ext>
                </a:extLst>
              </a:tr>
              <a:tr h="554294">
                <a:tc>
                  <a:txBody>
                    <a:bodyPr/>
                    <a:lstStyle/>
                    <a:p>
                      <a:pPr algn="ctr"/>
                      <a:r>
                        <a:rPr lang="en-US" dirty="0"/>
                        <a:t>K-nearest </a:t>
                      </a:r>
                      <a:r>
                        <a:rPr lang="en-US" dirty="0" err="1"/>
                        <a:t>neighbour</a:t>
                      </a:r>
                      <a:endParaRPr lang="en-IN" dirty="0"/>
                    </a:p>
                  </a:txBody>
                  <a:tcPr/>
                </a:tc>
                <a:tc>
                  <a:txBody>
                    <a:bodyPr/>
                    <a:lstStyle/>
                    <a:p>
                      <a:pPr algn="ctr"/>
                      <a:r>
                        <a:rPr lang="en-IN" dirty="0"/>
                        <a:t>0.014</a:t>
                      </a:r>
                    </a:p>
                  </a:txBody>
                  <a:tcPr/>
                </a:tc>
                <a:tc>
                  <a:txBody>
                    <a:bodyPr/>
                    <a:lstStyle/>
                    <a:p>
                      <a:pPr algn="ctr"/>
                      <a:r>
                        <a:rPr lang="en-IN" dirty="0"/>
                        <a:t>0.082</a:t>
                      </a:r>
                    </a:p>
                  </a:txBody>
                  <a:tcPr/>
                </a:tc>
                <a:tc>
                  <a:txBody>
                    <a:bodyPr/>
                    <a:lstStyle/>
                    <a:p>
                      <a:pPr algn="ctr"/>
                      <a:r>
                        <a:rPr lang="en-IN" dirty="0"/>
                        <a:t>0.835</a:t>
                      </a:r>
                    </a:p>
                  </a:txBody>
                  <a:tcPr/>
                </a:tc>
                <a:extLst>
                  <a:ext uri="{0D108BD9-81ED-4DB2-BD59-A6C34878D82A}">
                    <a16:rowId xmlns:a16="http://schemas.microsoft.com/office/drawing/2014/main" val="1656672850"/>
                  </a:ext>
                </a:extLst>
              </a:tr>
              <a:tr h="554294">
                <a:tc>
                  <a:txBody>
                    <a:bodyPr/>
                    <a:lstStyle/>
                    <a:p>
                      <a:pPr algn="ctr"/>
                      <a:r>
                        <a:rPr lang="en-US" dirty="0"/>
                        <a:t>Feed forward neural network</a:t>
                      </a:r>
                      <a:endParaRPr lang="en-IN" dirty="0"/>
                    </a:p>
                  </a:txBody>
                  <a:tcPr/>
                </a:tc>
                <a:tc>
                  <a:txBody>
                    <a:bodyPr/>
                    <a:lstStyle/>
                    <a:p>
                      <a:pPr algn="ctr"/>
                      <a:r>
                        <a:rPr lang="en-IN" dirty="0"/>
                        <a:t>0.002</a:t>
                      </a:r>
                    </a:p>
                  </a:txBody>
                  <a:tcPr/>
                </a:tc>
                <a:tc>
                  <a:txBody>
                    <a:bodyPr/>
                    <a:lstStyle/>
                    <a:p>
                      <a:pPr algn="ctr"/>
                      <a:r>
                        <a:rPr lang="en-IN" dirty="0"/>
                        <a:t>0.025</a:t>
                      </a:r>
                    </a:p>
                  </a:txBody>
                  <a:tcPr/>
                </a:tc>
                <a:tc>
                  <a:txBody>
                    <a:bodyPr/>
                    <a:lstStyle/>
                    <a:p>
                      <a:pPr algn="ctr"/>
                      <a:r>
                        <a:rPr lang="en-IN" dirty="0"/>
                        <a:t>0.693</a:t>
                      </a:r>
                    </a:p>
                  </a:txBody>
                  <a:tcPr/>
                </a:tc>
                <a:extLst>
                  <a:ext uri="{0D108BD9-81ED-4DB2-BD59-A6C34878D82A}">
                    <a16:rowId xmlns:a16="http://schemas.microsoft.com/office/drawing/2014/main" val="2274168973"/>
                  </a:ext>
                </a:extLst>
              </a:tr>
              <a:tr h="554294">
                <a:tc>
                  <a:txBody>
                    <a:bodyPr/>
                    <a:lstStyle/>
                    <a:p>
                      <a:pPr algn="ctr"/>
                      <a:r>
                        <a:rPr lang="en-IN" dirty="0"/>
                        <a:t>Recurrent neural network</a:t>
                      </a:r>
                    </a:p>
                  </a:txBody>
                  <a:tcPr/>
                </a:tc>
                <a:tc>
                  <a:txBody>
                    <a:bodyPr/>
                    <a:lstStyle/>
                    <a:p>
                      <a:pPr algn="ctr"/>
                      <a:r>
                        <a:rPr lang="en-IN" dirty="0"/>
                        <a:t>0.012</a:t>
                      </a:r>
                    </a:p>
                  </a:txBody>
                  <a:tcPr/>
                </a:tc>
                <a:tc>
                  <a:txBody>
                    <a:bodyPr/>
                    <a:lstStyle/>
                    <a:p>
                      <a:pPr algn="ctr"/>
                      <a:r>
                        <a:rPr lang="en-IN" dirty="0"/>
                        <a:t>0.045</a:t>
                      </a:r>
                    </a:p>
                  </a:txBody>
                  <a:tcPr/>
                </a:tc>
                <a:tc>
                  <a:txBody>
                    <a:bodyPr/>
                    <a:lstStyle/>
                    <a:p>
                      <a:pPr algn="ctr"/>
                      <a:r>
                        <a:rPr lang="en-IN" dirty="0"/>
                        <a:t>0.696</a:t>
                      </a:r>
                    </a:p>
                  </a:txBody>
                  <a:tcPr/>
                </a:tc>
                <a:extLst>
                  <a:ext uri="{0D108BD9-81ED-4DB2-BD59-A6C34878D82A}">
                    <a16:rowId xmlns:a16="http://schemas.microsoft.com/office/drawing/2014/main" val="2368287304"/>
                  </a:ext>
                </a:extLst>
              </a:tr>
              <a:tr h="316739">
                <a:tc>
                  <a:txBody>
                    <a:bodyPr/>
                    <a:lstStyle/>
                    <a:p>
                      <a:pPr algn="ctr"/>
                      <a:r>
                        <a:rPr lang="en-IN" dirty="0"/>
                        <a:t>ANFIS</a:t>
                      </a:r>
                    </a:p>
                  </a:txBody>
                  <a:tcPr/>
                </a:tc>
                <a:tc>
                  <a:txBody>
                    <a:bodyPr/>
                    <a:lstStyle/>
                    <a:p>
                      <a:pPr algn="ctr"/>
                      <a:r>
                        <a:rPr lang="en-IN" dirty="0"/>
                        <a:t>0.113</a:t>
                      </a:r>
                    </a:p>
                  </a:txBody>
                  <a:tcPr/>
                </a:tc>
                <a:tc>
                  <a:txBody>
                    <a:bodyPr/>
                    <a:lstStyle/>
                    <a:p>
                      <a:pPr algn="ctr"/>
                      <a:r>
                        <a:rPr lang="en-IN" dirty="0"/>
                        <a:t>0.023</a:t>
                      </a:r>
                    </a:p>
                  </a:txBody>
                  <a:tcPr/>
                </a:tc>
                <a:tc>
                  <a:txBody>
                    <a:bodyPr/>
                    <a:lstStyle/>
                    <a:p>
                      <a:pPr algn="ctr"/>
                      <a:r>
                        <a:rPr lang="en-IN" dirty="0"/>
                        <a:t>0.718</a:t>
                      </a:r>
                    </a:p>
                  </a:txBody>
                  <a:tcPr/>
                </a:tc>
                <a:extLst>
                  <a:ext uri="{0D108BD9-81ED-4DB2-BD59-A6C34878D82A}">
                    <a16:rowId xmlns:a16="http://schemas.microsoft.com/office/drawing/2014/main" val="289645580"/>
                  </a:ext>
                </a:extLst>
              </a:tr>
              <a:tr h="316739">
                <a:tc>
                  <a:txBody>
                    <a:bodyPr/>
                    <a:lstStyle/>
                    <a:p>
                      <a:pPr algn="ctr"/>
                      <a:r>
                        <a:rPr lang="en-IN" dirty="0"/>
                        <a:t>CNN</a:t>
                      </a:r>
                    </a:p>
                  </a:txBody>
                  <a:tcPr/>
                </a:tc>
                <a:tc>
                  <a:txBody>
                    <a:bodyPr/>
                    <a:lstStyle/>
                    <a:p>
                      <a:pPr algn="ctr"/>
                      <a:r>
                        <a:rPr lang="en-IN" dirty="0"/>
                        <a:t>0.123</a:t>
                      </a:r>
                    </a:p>
                  </a:txBody>
                  <a:tcPr/>
                </a:tc>
                <a:tc>
                  <a:txBody>
                    <a:bodyPr/>
                    <a:lstStyle/>
                    <a:p>
                      <a:pPr algn="ctr"/>
                      <a:r>
                        <a:rPr lang="en-IN" dirty="0"/>
                        <a:t>0.025</a:t>
                      </a:r>
                    </a:p>
                  </a:txBody>
                  <a:tcPr/>
                </a:tc>
                <a:tc>
                  <a:txBody>
                    <a:bodyPr/>
                    <a:lstStyle/>
                    <a:p>
                      <a:pPr algn="ctr"/>
                      <a:r>
                        <a:rPr lang="en-IN" dirty="0"/>
                        <a:t>0.698</a:t>
                      </a:r>
                    </a:p>
                  </a:txBody>
                  <a:tcPr/>
                </a:tc>
                <a:extLst>
                  <a:ext uri="{0D108BD9-81ED-4DB2-BD59-A6C34878D82A}">
                    <a16:rowId xmlns:a16="http://schemas.microsoft.com/office/drawing/2014/main" val="1341316598"/>
                  </a:ext>
                </a:extLst>
              </a:tr>
              <a:tr h="316739">
                <a:tc>
                  <a:txBody>
                    <a:bodyPr/>
                    <a:lstStyle/>
                    <a:p>
                      <a:pPr algn="ctr"/>
                      <a:r>
                        <a:rPr lang="en-IN" dirty="0"/>
                        <a:t>GRU</a:t>
                      </a:r>
                    </a:p>
                  </a:txBody>
                  <a:tcPr/>
                </a:tc>
                <a:tc>
                  <a:txBody>
                    <a:bodyPr/>
                    <a:lstStyle/>
                    <a:p>
                      <a:pPr algn="ctr"/>
                      <a:r>
                        <a:rPr lang="en-IN" dirty="0"/>
                        <a:t>0.126</a:t>
                      </a:r>
                    </a:p>
                  </a:txBody>
                  <a:tcPr/>
                </a:tc>
                <a:tc>
                  <a:txBody>
                    <a:bodyPr/>
                    <a:lstStyle/>
                    <a:p>
                      <a:pPr algn="ctr"/>
                      <a:r>
                        <a:rPr lang="en-IN" dirty="0"/>
                        <a:t>0.027</a:t>
                      </a:r>
                    </a:p>
                  </a:txBody>
                  <a:tcPr/>
                </a:tc>
                <a:tc>
                  <a:txBody>
                    <a:bodyPr/>
                    <a:lstStyle/>
                    <a:p>
                      <a:pPr algn="ctr"/>
                      <a:r>
                        <a:rPr lang="en-IN" dirty="0"/>
                        <a:t>0.676</a:t>
                      </a:r>
                    </a:p>
                  </a:txBody>
                  <a:tcPr/>
                </a:tc>
                <a:extLst>
                  <a:ext uri="{0D108BD9-81ED-4DB2-BD59-A6C34878D82A}">
                    <a16:rowId xmlns:a16="http://schemas.microsoft.com/office/drawing/2014/main" val="4068592902"/>
                  </a:ext>
                </a:extLst>
              </a:tr>
            </a:tbl>
          </a:graphicData>
        </a:graphic>
      </p:graphicFrame>
      <p:sp>
        <p:nvSpPr>
          <p:cNvPr id="2" name="TextBox 1">
            <a:extLst>
              <a:ext uri="{FF2B5EF4-FFF2-40B4-BE49-F238E27FC236}">
                <a16:creationId xmlns:a16="http://schemas.microsoft.com/office/drawing/2014/main" id="{F12B8ABE-4FF5-8C1D-3FAB-609AA6D42CB0}"/>
              </a:ext>
            </a:extLst>
          </p:cNvPr>
          <p:cNvSpPr txBox="1"/>
          <p:nvPr/>
        </p:nvSpPr>
        <p:spPr>
          <a:xfrm>
            <a:off x="1224451" y="136525"/>
            <a:ext cx="6450227" cy="523220"/>
          </a:xfrm>
          <a:prstGeom prst="rect">
            <a:avLst/>
          </a:prstGeom>
          <a:noFill/>
        </p:spPr>
        <p:txBody>
          <a:bodyPr wrap="none" rtlCol="0">
            <a:spAutoFit/>
          </a:bodyPr>
          <a:lstStyle/>
          <a:p>
            <a:r>
              <a:rPr lang="en-US" sz="2800" b="1" dirty="0"/>
              <a:t>Comparison of Errors for Different Models</a:t>
            </a:r>
          </a:p>
        </p:txBody>
      </p:sp>
    </p:spTree>
    <p:extLst>
      <p:ext uri="{BB962C8B-B14F-4D97-AF65-F5344CB8AC3E}">
        <p14:creationId xmlns:p14="http://schemas.microsoft.com/office/powerpoint/2010/main" val="954329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56C35F9-9F06-D6C7-483F-98C1C01121F1}"/>
              </a:ext>
            </a:extLst>
          </p:cNvPr>
          <p:cNvPicPr>
            <a:picLocks noChangeAspect="1"/>
          </p:cNvPicPr>
          <p:nvPr/>
        </p:nvPicPr>
        <p:blipFill>
          <a:blip r:embed="rId2"/>
          <a:stretch>
            <a:fillRect/>
          </a:stretch>
        </p:blipFill>
        <p:spPr>
          <a:xfrm>
            <a:off x="512222" y="1886992"/>
            <a:ext cx="5424398" cy="3084015"/>
          </a:xfrm>
          <a:prstGeom prst="rect">
            <a:avLst/>
          </a:prstGeom>
        </p:spPr>
      </p:pic>
      <p:pic>
        <p:nvPicPr>
          <p:cNvPr id="6" name="Picture 5">
            <a:extLst>
              <a:ext uri="{FF2B5EF4-FFF2-40B4-BE49-F238E27FC236}">
                <a16:creationId xmlns:a16="http://schemas.microsoft.com/office/drawing/2014/main" id="{EAC6663A-0ECF-03DA-E458-DB5377D9144E}"/>
              </a:ext>
            </a:extLst>
          </p:cNvPr>
          <p:cNvPicPr>
            <a:picLocks noChangeAspect="1"/>
          </p:cNvPicPr>
          <p:nvPr/>
        </p:nvPicPr>
        <p:blipFill>
          <a:blip r:embed="rId3"/>
          <a:stretch>
            <a:fillRect/>
          </a:stretch>
        </p:blipFill>
        <p:spPr>
          <a:xfrm>
            <a:off x="5936620" y="1620007"/>
            <a:ext cx="5661821" cy="3451230"/>
          </a:xfrm>
          <a:prstGeom prst="rect">
            <a:avLst/>
          </a:prstGeom>
        </p:spPr>
      </p:pic>
    </p:spTree>
    <p:extLst>
      <p:ext uri="{BB962C8B-B14F-4D97-AF65-F5344CB8AC3E}">
        <p14:creationId xmlns:p14="http://schemas.microsoft.com/office/powerpoint/2010/main" val="2336619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53C2F-7F2F-9D21-3597-C76EA35E847A}"/>
              </a:ext>
            </a:extLst>
          </p:cNvPr>
          <p:cNvSpPr>
            <a:spLocks noGrp="1"/>
          </p:cNvSpPr>
          <p:nvPr>
            <p:ph type="title"/>
          </p:nvPr>
        </p:nvSpPr>
        <p:spPr/>
        <p:txBody>
          <a:bodyPr/>
          <a:lstStyle/>
          <a:p>
            <a:r>
              <a:rPr lang="en-IN" b="1" dirty="0"/>
              <a:t>References</a:t>
            </a:r>
          </a:p>
        </p:txBody>
      </p:sp>
      <p:sp>
        <p:nvSpPr>
          <p:cNvPr id="3" name="Content Placeholder 2">
            <a:extLst>
              <a:ext uri="{FF2B5EF4-FFF2-40B4-BE49-F238E27FC236}">
                <a16:creationId xmlns:a16="http://schemas.microsoft.com/office/drawing/2014/main" id="{017B0F80-019C-9836-FC78-D01BA95E4123}"/>
              </a:ext>
            </a:extLst>
          </p:cNvPr>
          <p:cNvSpPr>
            <a:spLocks noGrp="1"/>
          </p:cNvSpPr>
          <p:nvPr>
            <p:ph idx="1"/>
          </p:nvPr>
        </p:nvSpPr>
        <p:spPr/>
        <p:txBody>
          <a:bodyPr>
            <a:normAutofit lnSpcReduction="10000"/>
          </a:bodyPr>
          <a:lstStyle/>
          <a:p>
            <a:r>
              <a:rPr lang="en-IN" sz="2400" dirty="0"/>
              <a:t>A Simplified Wind Power Generation </a:t>
            </a:r>
            <a:r>
              <a:rPr lang="en-IN" sz="2400" dirty="0" err="1"/>
              <a:t>Modelfor</a:t>
            </a:r>
            <a:r>
              <a:rPr lang="en-IN" sz="2400" dirty="0"/>
              <a:t> Reliability </a:t>
            </a:r>
            <a:r>
              <a:rPr lang="en-IN" sz="2400" dirty="0" err="1"/>
              <a:t>EvaluationRajesh</a:t>
            </a:r>
            <a:r>
              <a:rPr lang="en-IN" sz="2400" dirty="0"/>
              <a:t> Karki, Senior Member, IEEE, Po Hu, Student Member, IEEE, and Roy </a:t>
            </a:r>
            <a:r>
              <a:rPr lang="en-IN" sz="2400" dirty="0" err="1"/>
              <a:t>Billinton</a:t>
            </a:r>
            <a:r>
              <a:rPr lang="en-IN" sz="2400" dirty="0"/>
              <a:t>, Life Fellow, IEEE.</a:t>
            </a:r>
          </a:p>
          <a:p>
            <a:endParaRPr lang="en-IN" sz="2400" dirty="0"/>
          </a:p>
          <a:p>
            <a:r>
              <a:rPr lang="en-IN" sz="2400" dirty="0"/>
              <a:t>Different Models for Forecasting Wind Power Generation: Case Study David Barbosa de </a:t>
            </a:r>
            <a:r>
              <a:rPr lang="en-IN" sz="2400" dirty="0" err="1"/>
              <a:t>Alencar</a:t>
            </a:r>
            <a:r>
              <a:rPr lang="en-IN" sz="2400" dirty="0"/>
              <a:t> 1,*, Carolina de Mattos Affonso 1 , Roberto </a:t>
            </a:r>
            <a:r>
              <a:rPr lang="en-IN" sz="2400" dirty="0" err="1"/>
              <a:t>Célio</a:t>
            </a:r>
            <a:r>
              <a:rPr lang="en-IN" sz="2400" dirty="0"/>
              <a:t> </a:t>
            </a:r>
            <a:r>
              <a:rPr lang="en-IN" sz="2400" dirty="0" err="1"/>
              <a:t>Limão</a:t>
            </a:r>
            <a:r>
              <a:rPr lang="en-IN" sz="2400" dirty="0"/>
              <a:t> de Oliveira 1 ID , Jorge Laureano Moya Rodríguez 2 , </a:t>
            </a:r>
            <a:r>
              <a:rPr lang="en-IN" sz="2400" dirty="0" err="1"/>
              <a:t>Jandecy</a:t>
            </a:r>
            <a:r>
              <a:rPr lang="en-IN" sz="2400" dirty="0"/>
              <a:t> Cabral Leite 3 and José Carlos Reston Filho 4 .</a:t>
            </a:r>
          </a:p>
          <a:p>
            <a:endParaRPr lang="en-IN" sz="2400" dirty="0"/>
          </a:p>
          <a:p>
            <a:r>
              <a:rPr lang="en-US" sz="2400" dirty="0"/>
              <a:t>A Critical Review on Wind Turbine Power Curve Modelling Techniques and Their Applications in Wind Based Energy Systems ,Vaishali </a:t>
            </a:r>
            <a:r>
              <a:rPr lang="en-US" sz="2400" dirty="0" err="1"/>
              <a:t>Sohoni</a:t>
            </a:r>
            <a:r>
              <a:rPr lang="en-US" sz="2400" dirty="0"/>
              <a:t>, S. C. Gupta, R. K. </a:t>
            </a:r>
            <a:r>
              <a:rPr lang="en-US" sz="2400" dirty="0" err="1"/>
              <a:t>Nema</a:t>
            </a:r>
            <a:endParaRPr lang="en-IN" sz="2400" dirty="0"/>
          </a:p>
        </p:txBody>
      </p:sp>
    </p:spTree>
    <p:extLst>
      <p:ext uri="{BB962C8B-B14F-4D97-AF65-F5344CB8AC3E}">
        <p14:creationId xmlns:p14="http://schemas.microsoft.com/office/powerpoint/2010/main" val="11373127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1015</TotalTime>
  <Words>2345</Words>
  <Application>Microsoft Office PowerPoint</Application>
  <PresentationFormat>Widescreen</PresentationFormat>
  <Paragraphs>312</Paragraphs>
  <Slides>49</Slides>
  <Notes>0</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49</vt:i4>
      </vt:variant>
    </vt:vector>
  </HeadingPairs>
  <TitlesOfParts>
    <vt:vector size="55" baseType="lpstr">
      <vt:lpstr>Arial</vt:lpstr>
      <vt:lpstr>Calibri</vt:lpstr>
      <vt:lpstr>Calibri Light</vt:lpstr>
      <vt:lpstr>Cambria Math</vt:lpstr>
      <vt:lpstr>Google Sans</vt:lpstr>
      <vt:lpstr>Office Theme</vt:lpstr>
      <vt:lpstr>Wind Energy Generation Models</vt:lpstr>
      <vt:lpstr>Wind Turbines</vt:lpstr>
      <vt:lpstr>PowerPoint Presentation</vt:lpstr>
      <vt:lpstr>Power Curve</vt:lpstr>
      <vt:lpstr>Types of Wind Turbines</vt:lpstr>
      <vt:lpstr>PowerPoint Presentation</vt:lpstr>
      <vt:lpstr>Classification of Models</vt:lpstr>
      <vt:lpstr>Physical Models</vt:lpstr>
      <vt:lpstr>PowerPoint Presentation</vt:lpstr>
      <vt:lpstr>PowerPoint Presentation</vt:lpstr>
      <vt:lpstr>PowerPoint Presentation</vt:lpstr>
      <vt:lpstr>Statistical Models</vt:lpstr>
      <vt:lpstr>PowerPoint Presentation</vt:lpstr>
      <vt:lpstr>PowerPoint Presentation</vt:lpstr>
      <vt:lpstr>PowerPoint Presentation</vt:lpstr>
      <vt:lpstr>Linear Regression</vt:lpstr>
      <vt:lpstr>Multiple Linear Regression</vt:lpstr>
      <vt:lpstr>Polynomial Regression</vt:lpstr>
      <vt:lpstr>PowerPoint Presentation</vt:lpstr>
      <vt:lpstr>K-Nearest Neighbours (KNN) Regression</vt:lpstr>
      <vt:lpstr>PowerPoint Presentation</vt:lpstr>
      <vt:lpstr>Artificial Neural Network</vt:lpstr>
      <vt:lpstr>PowerPoint Presentation</vt:lpstr>
      <vt:lpstr>PowerPoint Presentation</vt:lpstr>
      <vt:lpstr>PowerPoint Presentation</vt:lpstr>
      <vt:lpstr> Recurrent Neural Network (RNN) </vt:lpstr>
      <vt:lpstr>PowerPoint Presentation</vt:lpstr>
      <vt:lpstr>Wind Dataset</vt:lpstr>
      <vt:lpstr>AR model</vt:lpstr>
      <vt:lpstr>MA model</vt:lpstr>
      <vt:lpstr>ARMA model</vt:lpstr>
      <vt:lpstr>Linear Regression</vt:lpstr>
      <vt:lpstr>Polynomial regression</vt:lpstr>
      <vt:lpstr>KNN</vt:lpstr>
      <vt:lpstr>Random Forest</vt:lpstr>
      <vt:lpstr>Summary of Statistical models</vt:lpstr>
      <vt:lpstr>PowerPoint Presentation</vt:lpstr>
      <vt:lpstr>PowerPoint Presentation</vt:lpstr>
      <vt:lpstr>ANN (adam,reLu)</vt:lpstr>
      <vt:lpstr>RNN (adam,reLu)</vt:lpstr>
      <vt:lpstr>Summary of Hybrid Models</vt:lpstr>
      <vt:lpstr>PowerPoint Presentation</vt:lpstr>
      <vt:lpstr>ANFIS</vt:lpstr>
      <vt:lpstr>Digital Twin</vt:lpstr>
      <vt:lpstr>Convolution Neural Network</vt:lpstr>
      <vt:lpstr>Gated Recurrent Unit</vt:lpstr>
      <vt:lpstr>PowerPoint Presentation</vt:lpstr>
      <vt:lpstr>PowerPoint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Nagaraju chanda</dc:creator>
  <cp:lastModifiedBy>Nagaraju chanda</cp:lastModifiedBy>
  <cp:revision>12</cp:revision>
  <dcterms:created xsi:type="dcterms:W3CDTF">2024-12-28T10:05:21Z</dcterms:created>
  <dcterms:modified xsi:type="dcterms:W3CDTF">2025-04-13T11:35:48Z</dcterms:modified>
</cp:coreProperties>
</file>